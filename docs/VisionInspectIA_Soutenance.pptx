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presenter brievement (nom, cursus). Annoncer le sujet : une plateforme de detection automatique de defauts sur bouteilles combinant IA et application web, developpee en stage de 4 semaines chez TechSkillHub. Transition : contexte du projet.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le contexte industriel : pourquoi l'inspection manuelle a des limites, et pourquoi la vision par ordinateur est une reponse pertinente. Ne pas s'attarder : 30 secondes. Transition vers la problematique precise.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problematique une seule fois, clairement. Elle resume tout le projet : IA (analyse automatique), application web (plateforme), et exigences non-fonctionnelles (tracabilite = historique, securite = JWT/isolation, rapidite = temps d'inference).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Enumerer rapidement les 9 objectifs sans les lire un a un ; regrouper mentalement : 3 premiers = IA, 3 suivants = application, 3 derniers = qualite/deploiement.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sert de sommaire fonctionnel. Parcourir rapidement le flux principal (chaine de gauche) puis mentionner les fonctionnalites transverses a droite. Ne pas s'attarder, tout sera detaille dans les slides suivantes et la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Decrire le schema de haut en bas : le frontend React communique en HTTPS/JWT avec le backend FastAPI, qui est le seul point d'entree vers MySQL (donnees) et vers MobileNetV2 (IA, charge en memoire dans le meme processus backend, pas un service separe). Insister : separation nette frontend / backend / IA / donnees.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reference rapide, a ne pas developper longuement. Mentionner que la stack a ete imposee/orientee par le cahier des charges du stage (React ou Angular, FastAPI ou Flask, MySQL), et que React/FastAPI/MySQL ont ete choisis.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que MVTec AD ne fournit nativement que des images 'good' en train, obligeant a augmenter fortement les classes de defaut pour equilibrer le dataset. Mentionner brievement que la validation a ete traitee differemment (sans duplication) pour eviter une fuite de donnees -- point detaille si le jury pose la question.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ne jamais dire que MobileNetV2 est le meilleur modele en accuracy -- ResNet50 fait legerement mieux. Le message est : MobileNetV2 est le meilleur COMPROMIS performance/taille/vitesse. Preciser que la normalisation MobileNetV2 est integree au modele sauvegarde, pas reappliquee par le backend (point verifie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macro : MobileNetV2 0.742, ResNet50 0.772, EfficientNetB0 0.688, CNN 0.100. Le CNN from scratch reste proche du hasard (donnees insuffisantes sans transfer learning). Entre les 3 modeles pre-entraines, ResNet50 est legerement meilleur en F1 mais 10x plus lourd et 2.6x plus lent que MobileNetV2.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chiffres proviennent directement de classification_report.json (source de verite retenue apres avoir identifie une incoherence dans un autre fichier de resultats -- mentionner si questionne). Pointer la matrice de confusion : good et broken_large parfaitement predits, broken_small et contamination plus difficiles -- transition naturelle vers les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Derouler le flux de bout en bout depuis l'upload jusqu'a la reponse. Insister sur : le modele est deja en memoire (pas de rechargement a chaque requete), et le temps d'inference est mesure et renvoye au frontend sans etre stocke en 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lister les endpoints un par un (voir annexe / rapport technique si le jury demande le detail). Insister sur la separation stricte routes/logique metier, et sur Swagger genere automatiquement par FastAPI a partir du code (pas ecrit a la main).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gauche : schema MySQL, relation 1-N entre users et inspections. A droite : flux JWT et isolation des donnees -- point verifie reellement en production (acces a une inspection d'un autre utilisateur =&gt; 404, pas une fuite d'information sur l'existence de la ressource).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aucune capture reelle de l'interface n'est disponible (pas de navigateur dans l'environnement de developpement utilise). Le rendu visuel n'a jamais ete verifie -- le dire clairement si demande plutot que de laisser croire le contraire. Remplacer ce placeholder par une vraie capture avant la soutenance.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statistiques du dashboard sont calculees en direct par une requete SQL agregee sur MySQL -- aucune valeur statique ou pre-calculee. Le rendu graphique (React/Recharts) n'a pas ete verifie visuellement, seul le calcul cote backend l'a ete.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 reellement en production : telechargement PDF fonctionnel (200, taille coherente), y compris pour une inspection dont l'image a ete perdue suite a un redeploiement (voir slide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URLs verifiees actives au moment de la redaction du rapport -- a reconfirmer juste avant la soutenance (tier gratuit/d'essai Railway, pas de garantie de disponibilite prolongee). Mentionner brievement les difficultes reelles de deploiement si le temps le permet (builder Railpack, dependance au dossier ai/, gestion du PORT) -- detaillees dans le rapport.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Distinguer clairement ce qui a ete teste en local ET en production (API, securite, base de donnees) de ce qui n'a jamais ete verifie visuellement (interface). Ne pas presenter la plateforme comme '100% validee' -- la ligne UI est explicitement marquee non verifiee.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importante -- l'assumer pleinement, ne pas la minimiser. Un modele performant sur son domaine d'entrainement peut rencontrer des difficultes face a des cas nouveaux ou peu representes (broken_small) ou hors domaine (domain shift). C'est un resultat honnete, pas un echec du projet.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que la demo va suivre ce scenario exact, sur l'application en production (pas en local). Voir docs/SCENARIO_DEMO.md pour le detail complet (compte de demo, images a utiliser, plan B en cas de probleme reseau).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ces points comme des travaux futurs, pas comme des fonctionnalites deja faites. Chaque perspective repond directement a une limitation de la slide precedente.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Conclure en reliant a la problematique initiale : la plateforme repond au besoin (analyse automatique, tracabilite via l'historique, securite via JWT, rapidite via le temps d'inference mesure). Rappeler en une phrase les limites (broken_small, domain shift) sans repeter toute la slide precedente. Remercier et ouvrir les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5A88"/>
        </a:solidFill>
        <a:effectLst/>
      </p:bgPr>
    </p:bg>
    <p:spTree>
      <p:nvGrpSpPr>
        <p:cNvPr id="1" name=""/>
        <p:cNvGrpSpPr/>
        <p:nvPr/>
      </p:nvGrpSpPr>
      <p:grpSpPr/>
      <p:sp>
        <p:nvSpPr>
          <p:cNvPr id="2" name="Rectangle 1"/>
          <p:cNvSpPr/>
          <p:nvPr/>
        </p:nvSpPr>
        <p:spPr>
          <a:xfrm>
            <a:off x="0" y="5120640"/>
            <a:ext cx="12191695" cy="1737360"/>
          </a:xfrm>
          <a:prstGeom prst="rect">
            <a:avLst/>
          </a:prstGeom>
          <a:solidFill>
            <a:srgbClr val="2448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1188720"/>
          </a:xfrm>
          <a:prstGeom prst="rect">
            <a:avLst/>
          </a:prstGeom>
          <a:noFill/>
        </p:spPr>
        <p:txBody>
          <a:bodyPr wrap="square" anchor="t">
            <a:spAutoFit/>
          </a:bodyPr>
          <a:lstStyle/>
          <a:p>
            <a:pPr algn="l">
              <a:lnSpc>
                <a:spcPct val="115000"/>
              </a:lnSpc>
            </a:pPr>
            <a:r>
              <a:rPr sz="5400" b="1" i="0">
                <a:solidFill>
                  <a:srgbClr val="FFFFFF"/>
                </a:solidFill>
                <a:latin typeface="Calibri"/>
              </a:rPr>
              <a:t>VisionInspectIA</a:t>
            </a:r>
          </a:p>
        </p:txBody>
      </p:sp>
      <p:sp>
        <p:nvSpPr>
          <p:cNvPr id="4" name="TextBox 3"/>
          <p:cNvSpPr txBox="1"/>
          <p:nvPr/>
        </p:nvSpPr>
        <p:spPr>
          <a:xfrm>
            <a:off x="822960" y="3063240"/>
            <a:ext cx="10515600" cy="731520"/>
          </a:xfrm>
          <a:prstGeom prst="rect">
            <a:avLst/>
          </a:prstGeom>
          <a:noFill/>
        </p:spPr>
        <p:txBody>
          <a:bodyPr wrap="square" anchor="t">
            <a:spAutoFit/>
          </a:bodyPr>
          <a:lstStyle/>
          <a:p>
            <a:pPr algn="l">
              <a:lnSpc>
                <a:spcPct val="115000"/>
              </a:lnSpc>
            </a:pPr>
            <a:r>
              <a:rPr sz="2200" b="0" i="1">
                <a:solidFill>
                  <a:srgbClr val="DCE6F0"/>
                </a:solidFill>
                <a:latin typeface="Calibri"/>
              </a:rPr>
              <a:t>Plateforme intelligente de détection des défauts sur bouteilles</a:t>
            </a:r>
          </a:p>
        </p:txBody>
      </p:sp>
      <p:sp>
        <p:nvSpPr>
          <p:cNvPr id="5" name="TextBox 4"/>
          <p:cNvSpPr txBox="1"/>
          <p:nvPr/>
        </p:nvSpPr>
        <p:spPr>
          <a:xfrm>
            <a:off x="822960" y="3931920"/>
            <a:ext cx="8229600" cy="457200"/>
          </a:xfrm>
          <a:prstGeom prst="rect">
            <a:avLst/>
          </a:prstGeom>
          <a:noFill/>
        </p:spPr>
        <p:txBody>
          <a:bodyPr wrap="square" anchor="t">
            <a:spAutoFit/>
          </a:bodyPr>
          <a:lstStyle/>
          <a:p>
            <a:pPr algn="l">
              <a:lnSpc>
                <a:spcPct val="115000"/>
              </a:lnSpc>
            </a:pPr>
            <a:r>
              <a:rPr sz="1400" b="0" i="0">
                <a:solidFill>
                  <a:srgbClr val="FFFFFF"/>
                </a:solidFill>
                <a:latin typeface="Calibri"/>
              </a:rPr>
              <a:t>Vision par ordinateur · Deep Learning (MobileNetV2) · FastAPI · MySQL · React · Railway</a:t>
            </a:r>
          </a:p>
        </p:txBody>
      </p:sp>
      <p:sp>
        <p:nvSpPr>
          <p:cNvPr id="6" name="TextBox 5"/>
          <p:cNvSpPr txBox="1"/>
          <p:nvPr/>
        </p:nvSpPr>
        <p:spPr>
          <a:xfrm>
            <a:off x="822960" y="5257800"/>
            <a:ext cx="8229600" cy="1371600"/>
          </a:xfrm>
          <a:prstGeom prst="rect">
            <a:avLst/>
          </a:prstGeom>
          <a:noFill/>
        </p:spPr>
        <p:txBody>
          <a:bodyPr wrap="square" anchor="t">
            <a:spAutoFit/>
          </a:bodyPr>
          <a:lstStyle/>
          <a:p>
            <a:pPr algn="l">
              <a:lnSpc>
                <a:spcPct val="130000"/>
              </a:lnSpc>
            </a:pPr>
            <a:r>
              <a:rPr sz="1300" b="0" i="0">
                <a:solidFill>
                  <a:srgbClr val="FFFFFF"/>
                </a:solidFill>
                <a:latin typeface="Calibri"/>
              </a:rPr>
              <a:t>Stagiaire : Aymen Chiab</a:t>
            </a:r>
          </a:p>
          <a:p>
            <a:pPr algn="l">
              <a:lnSpc>
                <a:spcPct val="130000"/>
              </a:lnSpc>
            </a:pPr>
            <a:r>
              <a:rPr sz="1300" b="0" i="0">
                <a:solidFill>
                  <a:srgbClr val="FFFFFF"/>
                </a:solidFill>
                <a:latin typeface="Calibri"/>
              </a:rPr>
              <a:t>Organisme d'accueil : TechSkillHub (programme AI/ML, TSH/A5E51B1E)</a:t>
            </a:r>
          </a:p>
          <a:p>
            <a:pPr algn="l">
              <a:lnSpc>
                <a:spcPct val="130000"/>
              </a:lnSpc>
            </a:pPr>
            <a:r>
              <a:rPr sz="1300" b="0" i="0">
                <a:solidFill>
                  <a:srgbClr val="FFFFFF"/>
                </a:solidFill>
                <a:latin typeface="Calibri"/>
              </a:rPr>
              <a:t>Établissement : [À COMPLÉTER]</a:t>
            </a:r>
          </a:p>
          <a:p>
            <a:pPr algn="l">
              <a:lnSpc>
                <a:spcPct val="130000"/>
              </a:lnSpc>
            </a:pPr>
            <a:r>
              <a:rPr sz="1300" b="0" i="0">
                <a:solidFill>
                  <a:srgbClr val="FFFFFF"/>
                </a:solidFill>
                <a:latin typeface="Calibri"/>
              </a:rPr>
              <a:t>Encadrant / tuteur : [À COMPLÉTER]</a:t>
            </a:r>
          </a:p>
          <a:p>
            <a:pPr algn="l">
              <a:lnSpc>
                <a:spcPct val="130000"/>
              </a:lnSpc>
            </a:pPr>
            <a:r>
              <a:rPr sz="1300" b="0" i="0">
                <a:solidFill>
                  <a:srgbClr val="FFFFFF"/>
                </a:solidFill>
                <a:latin typeface="Calibri"/>
              </a:rPr>
              <a:t>Année universitaire : [À COMPLÉTER]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Contexte</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a:t>
            </a:r>
          </a:p>
        </p:txBody>
      </p:sp>
      <p:sp>
        <p:nvSpPr>
          <p:cNvPr id="5" name="TextBox 4"/>
          <p:cNvSpPr txBox="1"/>
          <p:nvPr/>
        </p:nvSpPr>
        <p:spPr>
          <a:xfrm>
            <a:off x="640080" y="1463040"/>
            <a:ext cx="10789920" cy="4114800"/>
          </a:xfrm>
          <a:prstGeom prst="rect">
            <a:avLst/>
          </a:prstGeom>
          <a:noFill/>
        </p:spPr>
        <p:txBody>
          <a:bodyPr wrap="square">
            <a:spAutoFit/>
          </a:bodyPr>
          <a:lstStyle/>
          <a:p>
            <a:pPr>
              <a:spcAft>
                <a:spcPts val="1800"/>
              </a:spcAft>
            </a:pPr>
            <a:r>
              <a:rPr sz="2000">
                <a:solidFill>
                  <a:srgbClr val="1A1A1A"/>
                </a:solidFill>
                <a:latin typeface="Calibri"/>
              </a:rPr>
              <a:t>•  Le contrôle qualité visuel en industrie reste souvent réalisé manuellement par des opérateurs.</a:t>
            </a:r>
          </a:p>
          <a:p>
            <a:pPr>
              <a:spcAft>
                <a:spcPts val="1800"/>
              </a:spcAft>
            </a:pPr>
            <a:r>
              <a:rPr sz="2000">
                <a:solidFill>
                  <a:srgbClr val="1A1A1A"/>
                </a:solidFill>
                <a:latin typeface="Calibri"/>
              </a:rPr>
              <a:t>•  Limites connues de l'inspection humaine : fatigue visuelle, subjectivité, variabilité entre opérateurs.</a:t>
            </a:r>
          </a:p>
          <a:p>
            <a:pPr>
              <a:spcAft>
                <a:spcPts val="1800"/>
              </a:spcAft>
            </a:pPr>
            <a:r>
              <a:rPr sz="2000">
                <a:solidFill>
                  <a:srgbClr val="1A1A1A"/>
                </a:solidFill>
                <a:latin typeface="Calibri"/>
              </a:rPr>
              <a:t>•  La vision par ordinateur et le deep learning permettent d'automatiser cette détection.</a:t>
            </a:r>
          </a:p>
          <a:p>
            <a:pPr>
              <a:spcAft>
                <a:spcPts val="1800"/>
              </a:spcAft>
            </a:pPr>
            <a:r>
              <a:rPr sz="2000">
                <a:solidFill>
                  <a:srgbClr val="1A1A1A"/>
                </a:solidFill>
                <a:latin typeface="Calibri"/>
              </a:rPr>
              <a:t>•  Le transfer learning rend cette automatisation possible même avec un volume de données limité.</a:t>
            </a:r>
          </a:p>
          <a:p>
            <a:pPr>
              <a:spcAft>
                <a:spcPts val="1800"/>
              </a:spcAft>
            </a:pPr>
            <a:r>
              <a:rPr sz="2000">
                <a:solidFill>
                  <a:srgbClr val="1A1A1A"/>
                </a:solidFill>
                <a:latin typeface="Calibri"/>
              </a:rPr>
              <a:t>•  VisionInspectIA applique cette approche à la détection de défauts sur des bouteilles.</a:t>
            </a:r>
          </a:p>
        </p:txBody>
      </p:sp>
      <p:sp>
        <p:nvSpPr>
          <p:cNvPr id="6" name="TextBox 5"/>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7" name="TextBox 6"/>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Problématique</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2</a:t>
            </a:r>
          </a:p>
        </p:txBody>
      </p:sp>
      <p:sp>
        <p:nvSpPr>
          <p:cNvPr id="5" name="Rectangle 4"/>
          <p:cNvSpPr/>
          <p:nvPr/>
        </p:nvSpPr>
        <p:spPr>
          <a:xfrm>
            <a:off x="1097280" y="2377440"/>
            <a:ext cx="9966960" cy="2377440"/>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2651760"/>
            <a:ext cx="9235440" cy="1828800"/>
          </a:xfrm>
          <a:prstGeom prst="rect">
            <a:avLst/>
          </a:prstGeom>
          <a:noFill/>
        </p:spPr>
        <p:txBody>
          <a:bodyPr wrap="square" anchor="ctr">
            <a:spAutoFit/>
          </a:bodyPr>
          <a:lstStyle/>
          <a:p>
            <a:pPr algn="ctr">
              <a:lnSpc>
                <a:spcPct val="130000"/>
              </a:lnSpc>
            </a:pPr>
            <a:r>
              <a:rPr sz="2400" b="1" i="0">
                <a:solidFill>
                  <a:srgbClr val="2E5A88"/>
                </a:solidFill>
                <a:latin typeface="Calibri"/>
              </a:rPr>
              <a:t>Comment concevoir une plateforme web capable d'analyser automatiquement une image de bouteille, d'identifier son état, et de fournir un résultat exploitable, tout en assurant traçabilité, sécurité et rapidité ?</a:t>
            </a:r>
          </a:p>
        </p:txBody>
      </p:sp>
      <p:sp>
        <p:nvSpPr>
          <p:cNvPr id="7" name="TextBox 6"/>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8" name="TextBox 7"/>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Objectifs du projet</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3</a:t>
            </a:r>
          </a:p>
        </p:txBody>
      </p:sp>
      <p:sp>
        <p:nvSpPr>
          <p:cNvPr id="5" name="Rectangle 4"/>
          <p:cNvSpPr/>
          <p:nvPr/>
        </p:nvSpPr>
        <p:spPr>
          <a:xfrm>
            <a:off x="502920" y="155448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5448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1. Préparer et augmenter le dataset</a:t>
            </a:r>
          </a:p>
        </p:txBody>
      </p:sp>
      <p:sp>
        <p:nvSpPr>
          <p:cNvPr id="8" name="Rectangle 7"/>
          <p:cNvSpPr/>
          <p:nvPr/>
        </p:nvSpPr>
        <p:spPr>
          <a:xfrm>
            <a:off x="4160520" y="155448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60520" y="155448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55448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2. Entraîner et comparer plusieurs modèles</a:t>
            </a:r>
          </a:p>
        </p:txBody>
      </p:sp>
      <p:sp>
        <p:nvSpPr>
          <p:cNvPr id="11" name="Rectangle 10"/>
          <p:cNvSpPr/>
          <p:nvPr/>
        </p:nvSpPr>
        <p:spPr>
          <a:xfrm>
            <a:off x="7818120" y="155448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55448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55448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3. Sélectionner le modèle le plus adapté</a:t>
            </a:r>
          </a:p>
        </p:txBody>
      </p:sp>
      <p:sp>
        <p:nvSpPr>
          <p:cNvPr id="14" name="Rectangle 13"/>
          <p:cNvSpPr/>
          <p:nvPr/>
        </p:nvSpPr>
        <p:spPr>
          <a:xfrm>
            <a:off x="502920" y="297180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7180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97180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4. Développer une API de prédiction</a:t>
            </a:r>
          </a:p>
        </p:txBody>
      </p:sp>
      <p:sp>
        <p:nvSpPr>
          <p:cNvPr id="17" name="Rectangle 16"/>
          <p:cNvSpPr/>
          <p:nvPr/>
        </p:nvSpPr>
        <p:spPr>
          <a:xfrm>
            <a:off x="4160520" y="297180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297180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97180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5. Développer une interface web</a:t>
            </a:r>
          </a:p>
        </p:txBody>
      </p:sp>
      <p:sp>
        <p:nvSpPr>
          <p:cNvPr id="20" name="Rectangle 19"/>
          <p:cNvSpPr/>
          <p:nvPr/>
        </p:nvSpPr>
        <p:spPr>
          <a:xfrm>
            <a:off x="7818120" y="297180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18120" y="297180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97180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6. Enregistrer les inspections (historique)</a:t>
            </a:r>
          </a:p>
        </p:txBody>
      </p:sp>
      <p:sp>
        <p:nvSpPr>
          <p:cNvPr id="23" name="Rectangle 22"/>
          <p:cNvSpPr/>
          <p:nvPr/>
        </p:nvSpPr>
        <p:spPr>
          <a:xfrm>
            <a:off x="502920" y="438912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38912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38912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7. Générer des rapports (PDF/CSV)</a:t>
            </a:r>
          </a:p>
        </p:txBody>
      </p:sp>
      <p:sp>
        <p:nvSpPr>
          <p:cNvPr id="26" name="Rectangle 25"/>
          <p:cNvSpPr/>
          <p:nvPr/>
        </p:nvSpPr>
        <p:spPr>
          <a:xfrm>
            <a:off x="4160520" y="438912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60520" y="438912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38912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8. Sécuriser les accès (JWT)</a:t>
            </a:r>
          </a:p>
        </p:txBody>
      </p:sp>
      <p:sp>
        <p:nvSpPr>
          <p:cNvPr id="29" name="Rectangle 28"/>
          <p:cNvSpPr/>
          <p:nvPr/>
        </p:nvSpPr>
        <p:spPr>
          <a:xfrm>
            <a:off x="7818120" y="438912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18120" y="4389120"/>
            <a:ext cx="109728" cy="123444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2440" y="4389120"/>
            <a:ext cx="3063240" cy="1234440"/>
          </a:xfrm>
          <a:prstGeom prst="rect">
            <a:avLst/>
          </a:prstGeom>
          <a:noFill/>
        </p:spPr>
        <p:txBody>
          <a:bodyPr wrap="square" anchor="ctr">
            <a:spAutoFit/>
          </a:bodyPr>
          <a:lstStyle/>
          <a:p>
            <a:pPr algn="l">
              <a:lnSpc>
                <a:spcPct val="110000"/>
              </a:lnSpc>
            </a:pPr>
            <a:r>
              <a:rPr sz="1500" b="0" i="0">
                <a:solidFill>
                  <a:srgbClr val="1A1A1A"/>
                </a:solidFill>
                <a:latin typeface="Calibri"/>
              </a:rPr>
              <a:t>9. Déployer la solution en production</a:t>
            </a:r>
          </a:p>
        </p:txBody>
      </p:sp>
      <p:sp>
        <p:nvSpPr>
          <p:cNvPr id="32" name="TextBox 31"/>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33" name="TextBox 32"/>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Fonctionnalités de la plateforme</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4</a:t>
            </a:r>
          </a:p>
        </p:txBody>
      </p:sp>
      <p:sp>
        <p:nvSpPr>
          <p:cNvPr id="5" name="Rectangle 4"/>
          <p:cNvSpPr/>
          <p:nvPr/>
        </p:nvSpPr>
        <p:spPr>
          <a:xfrm>
            <a:off x="822960" y="1417320"/>
            <a:ext cx="457200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4572000" cy="566928"/>
          </a:xfrm>
          <a:prstGeom prst="rect">
            <a:avLst/>
          </a:prstGeom>
          <a:noFill/>
        </p:spPr>
        <p:txBody>
          <a:bodyPr wrap="square" anchor="ctr">
            <a:spAutoFit/>
          </a:bodyPr>
          <a:lstStyle/>
          <a:p>
            <a:pPr algn="ctr">
              <a:lnSpc>
                <a:spcPct val="115000"/>
              </a:lnSpc>
            </a:pPr>
            <a:r>
              <a:rPr sz="1500" b="0" i="0">
                <a:solidFill>
                  <a:srgbClr val="1A1A1A"/>
                </a:solidFill>
                <a:latin typeface="Calibri"/>
              </a:rPr>
              <a:t>Authentification</a:t>
            </a:r>
          </a:p>
        </p:txBody>
      </p:sp>
      <p:sp>
        <p:nvSpPr>
          <p:cNvPr id="7" name="TextBox 6"/>
          <p:cNvSpPr txBox="1"/>
          <p:nvPr/>
        </p:nvSpPr>
        <p:spPr>
          <a:xfrm>
            <a:off x="822960" y="1984248"/>
            <a:ext cx="4572000" cy="137160"/>
          </a:xfrm>
          <a:prstGeom prst="rect">
            <a:avLst/>
          </a:prstGeom>
          <a:noFill/>
        </p:spPr>
        <p:txBody>
          <a:bodyPr wrap="square" anchor="t">
            <a:spAutoFit/>
          </a:bodyPr>
          <a:lstStyle/>
          <a:p>
            <a:pPr algn="ctr">
              <a:lnSpc>
                <a:spcPct val="115000"/>
              </a:lnSpc>
            </a:pPr>
            <a:r>
              <a:rPr sz="1400" b="0" i="0">
                <a:solidFill>
                  <a:srgbClr val="2E5A88"/>
                </a:solidFill>
                <a:latin typeface="Calibri"/>
              </a:rPr>
              <a:t>↓</a:t>
            </a:r>
          </a:p>
        </p:txBody>
      </p:sp>
      <p:sp>
        <p:nvSpPr>
          <p:cNvPr id="8" name="Rectangle 7"/>
          <p:cNvSpPr/>
          <p:nvPr/>
        </p:nvSpPr>
        <p:spPr>
          <a:xfrm>
            <a:off x="822960" y="2121408"/>
            <a:ext cx="457200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21408"/>
            <a:ext cx="4572000" cy="566928"/>
          </a:xfrm>
          <a:prstGeom prst="rect">
            <a:avLst/>
          </a:prstGeom>
          <a:noFill/>
        </p:spPr>
        <p:txBody>
          <a:bodyPr wrap="square" anchor="ctr">
            <a:spAutoFit/>
          </a:bodyPr>
          <a:lstStyle/>
          <a:p>
            <a:pPr algn="ctr">
              <a:lnSpc>
                <a:spcPct val="115000"/>
              </a:lnSpc>
            </a:pPr>
            <a:r>
              <a:rPr sz="1500" b="0" i="0">
                <a:solidFill>
                  <a:srgbClr val="1A1A1A"/>
                </a:solidFill>
                <a:latin typeface="Calibri"/>
              </a:rPr>
              <a:t>Dashboard</a:t>
            </a:r>
          </a:p>
        </p:txBody>
      </p:sp>
      <p:sp>
        <p:nvSpPr>
          <p:cNvPr id="10" name="TextBox 9"/>
          <p:cNvSpPr txBox="1"/>
          <p:nvPr/>
        </p:nvSpPr>
        <p:spPr>
          <a:xfrm>
            <a:off x="822960" y="2688336"/>
            <a:ext cx="4572000" cy="137160"/>
          </a:xfrm>
          <a:prstGeom prst="rect">
            <a:avLst/>
          </a:prstGeom>
          <a:noFill/>
        </p:spPr>
        <p:txBody>
          <a:bodyPr wrap="square" anchor="t">
            <a:spAutoFit/>
          </a:bodyPr>
          <a:lstStyle/>
          <a:p>
            <a:pPr algn="ctr">
              <a:lnSpc>
                <a:spcPct val="115000"/>
              </a:lnSpc>
            </a:pPr>
            <a:r>
              <a:rPr sz="1400" b="0" i="0">
                <a:solidFill>
                  <a:srgbClr val="2E5A88"/>
                </a:solidFill>
                <a:latin typeface="Calibri"/>
              </a:rPr>
              <a:t>↓</a:t>
            </a:r>
          </a:p>
        </p:txBody>
      </p:sp>
      <p:sp>
        <p:nvSpPr>
          <p:cNvPr id="11" name="Rectangle 10"/>
          <p:cNvSpPr/>
          <p:nvPr/>
        </p:nvSpPr>
        <p:spPr>
          <a:xfrm>
            <a:off x="822960" y="2825496"/>
            <a:ext cx="457200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825496"/>
            <a:ext cx="4572000" cy="566928"/>
          </a:xfrm>
          <a:prstGeom prst="rect">
            <a:avLst/>
          </a:prstGeom>
          <a:noFill/>
        </p:spPr>
        <p:txBody>
          <a:bodyPr wrap="square" anchor="ctr">
            <a:spAutoFit/>
          </a:bodyPr>
          <a:lstStyle/>
          <a:p>
            <a:pPr algn="ctr">
              <a:lnSpc>
                <a:spcPct val="115000"/>
              </a:lnSpc>
            </a:pPr>
            <a:r>
              <a:rPr sz="1500" b="0" i="0">
                <a:solidFill>
                  <a:srgbClr val="1A1A1A"/>
                </a:solidFill>
                <a:latin typeface="Calibri"/>
              </a:rPr>
              <a:t>Upload image</a:t>
            </a:r>
          </a:p>
        </p:txBody>
      </p:sp>
      <p:sp>
        <p:nvSpPr>
          <p:cNvPr id="13" name="TextBox 12"/>
          <p:cNvSpPr txBox="1"/>
          <p:nvPr/>
        </p:nvSpPr>
        <p:spPr>
          <a:xfrm>
            <a:off x="822960" y="3392424"/>
            <a:ext cx="4572000" cy="137160"/>
          </a:xfrm>
          <a:prstGeom prst="rect">
            <a:avLst/>
          </a:prstGeom>
          <a:noFill/>
        </p:spPr>
        <p:txBody>
          <a:bodyPr wrap="square" anchor="t">
            <a:spAutoFit/>
          </a:bodyPr>
          <a:lstStyle/>
          <a:p>
            <a:pPr algn="ctr">
              <a:lnSpc>
                <a:spcPct val="115000"/>
              </a:lnSpc>
            </a:pPr>
            <a:r>
              <a:rPr sz="1400" b="0" i="0">
                <a:solidFill>
                  <a:srgbClr val="2E5A88"/>
                </a:solidFill>
                <a:latin typeface="Calibri"/>
              </a:rPr>
              <a:t>↓</a:t>
            </a:r>
          </a:p>
        </p:txBody>
      </p:sp>
      <p:sp>
        <p:nvSpPr>
          <p:cNvPr id="14" name="Rectangle 13"/>
          <p:cNvSpPr/>
          <p:nvPr/>
        </p:nvSpPr>
        <p:spPr>
          <a:xfrm>
            <a:off x="822960" y="3529584"/>
            <a:ext cx="4572000" cy="566928"/>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29584"/>
            <a:ext cx="4572000" cy="566928"/>
          </a:xfrm>
          <a:prstGeom prst="rect">
            <a:avLst/>
          </a:prstGeom>
          <a:noFill/>
        </p:spPr>
        <p:txBody>
          <a:bodyPr wrap="square" anchor="ctr">
            <a:spAutoFit/>
          </a:bodyPr>
          <a:lstStyle/>
          <a:p>
            <a:pPr algn="ctr">
              <a:lnSpc>
                <a:spcPct val="115000"/>
              </a:lnSpc>
            </a:pPr>
            <a:r>
              <a:rPr sz="1500" b="1" i="0">
                <a:solidFill>
                  <a:srgbClr val="FFFFFF"/>
                </a:solidFill>
                <a:latin typeface="Calibri"/>
              </a:rPr>
              <a:t>Prédiction IA</a:t>
            </a:r>
          </a:p>
        </p:txBody>
      </p:sp>
      <p:sp>
        <p:nvSpPr>
          <p:cNvPr id="16" name="TextBox 15"/>
          <p:cNvSpPr txBox="1"/>
          <p:nvPr/>
        </p:nvSpPr>
        <p:spPr>
          <a:xfrm>
            <a:off x="822960" y="4096512"/>
            <a:ext cx="4572000" cy="137160"/>
          </a:xfrm>
          <a:prstGeom prst="rect">
            <a:avLst/>
          </a:prstGeom>
          <a:noFill/>
        </p:spPr>
        <p:txBody>
          <a:bodyPr wrap="square" anchor="t">
            <a:spAutoFit/>
          </a:bodyPr>
          <a:lstStyle/>
          <a:p>
            <a:pPr algn="ctr">
              <a:lnSpc>
                <a:spcPct val="115000"/>
              </a:lnSpc>
            </a:pPr>
            <a:r>
              <a:rPr sz="1400" b="0" i="0">
                <a:solidFill>
                  <a:srgbClr val="2E5A88"/>
                </a:solidFill>
                <a:latin typeface="Calibri"/>
              </a:rPr>
              <a:t>↓</a:t>
            </a:r>
          </a:p>
        </p:txBody>
      </p:sp>
      <p:sp>
        <p:nvSpPr>
          <p:cNvPr id="17" name="Rectangle 16"/>
          <p:cNvSpPr/>
          <p:nvPr/>
        </p:nvSpPr>
        <p:spPr>
          <a:xfrm>
            <a:off x="822960" y="4233672"/>
            <a:ext cx="457200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33672"/>
            <a:ext cx="4572000" cy="566928"/>
          </a:xfrm>
          <a:prstGeom prst="rect">
            <a:avLst/>
          </a:prstGeom>
          <a:noFill/>
        </p:spPr>
        <p:txBody>
          <a:bodyPr wrap="square" anchor="ctr">
            <a:spAutoFit/>
          </a:bodyPr>
          <a:lstStyle/>
          <a:p>
            <a:pPr algn="ctr">
              <a:lnSpc>
                <a:spcPct val="115000"/>
              </a:lnSpc>
            </a:pPr>
            <a:r>
              <a:rPr sz="1500" b="0" i="0">
                <a:solidFill>
                  <a:srgbClr val="1A1A1A"/>
                </a:solidFill>
                <a:latin typeface="Calibri"/>
              </a:rPr>
              <a:t>Historique</a:t>
            </a:r>
          </a:p>
        </p:txBody>
      </p:sp>
      <p:sp>
        <p:nvSpPr>
          <p:cNvPr id="19" name="TextBox 18"/>
          <p:cNvSpPr txBox="1"/>
          <p:nvPr/>
        </p:nvSpPr>
        <p:spPr>
          <a:xfrm>
            <a:off x="822960" y="4800600"/>
            <a:ext cx="4572000" cy="137160"/>
          </a:xfrm>
          <a:prstGeom prst="rect">
            <a:avLst/>
          </a:prstGeom>
          <a:noFill/>
        </p:spPr>
        <p:txBody>
          <a:bodyPr wrap="square" anchor="t">
            <a:spAutoFit/>
          </a:bodyPr>
          <a:lstStyle/>
          <a:p>
            <a:pPr algn="ctr">
              <a:lnSpc>
                <a:spcPct val="115000"/>
              </a:lnSpc>
            </a:pPr>
            <a:r>
              <a:rPr sz="1400" b="0" i="0">
                <a:solidFill>
                  <a:srgbClr val="2E5A88"/>
                </a:solidFill>
                <a:latin typeface="Calibri"/>
              </a:rPr>
              <a:t>↓</a:t>
            </a:r>
          </a:p>
        </p:txBody>
      </p:sp>
      <p:sp>
        <p:nvSpPr>
          <p:cNvPr id="20" name="Rectangle 19"/>
          <p:cNvSpPr/>
          <p:nvPr/>
        </p:nvSpPr>
        <p:spPr>
          <a:xfrm>
            <a:off x="822960" y="4937760"/>
            <a:ext cx="457200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937760"/>
            <a:ext cx="4572000" cy="566928"/>
          </a:xfrm>
          <a:prstGeom prst="rect">
            <a:avLst/>
          </a:prstGeom>
          <a:noFill/>
        </p:spPr>
        <p:txBody>
          <a:bodyPr wrap="square" anchor="ctr">
            <a:spAutoFit/>
          </a:bodyPr>
          <a:lstStyle/>
          <a:p>
            <a:pPr algn="ctr">
              <a:lnSpc>
                <a:spcPct val="115000"/>
              </a:lnSpc>
            </a:pPr>
            <a:r>
              <a:rPr sz="1500" b="0" i="0">
                <a:solidFill>
                  <a:srgbClr val="1A1A1A"/>
                </a:solidFill>
                <a:latin typeface="Calibri"/>
              </a:rPr>
              <a:t>Rapport PDF / CSV</a:t>
            </a:r>
          </a:p>
        </p:txBody>
      </p:sp>
      <p:sp>
        <p:nvSpPr>
          <p:cNvPr id="22" name="TextBox 21"/>
          <p:cNvSpPr txBox="1"/>
          <p:nvPr/>
        </p:nvSpPr>
        <p:spPr>
          <a:xfrm>
            <a:off x="822960" y="5504688"/>
            <a:ext cx="4572000" cy="137160"/>
          </a:xfrm>
          <a:prstGeom prst="rect">
            <a:avLst/>
          </a:prstGeom>
          <a:noFill/>
        </p:spPr>
        <p:txBody>
          <a:bodyPr wrap="square" anchor="t">
            <a:spAutoFit/>
          </a:bodyPr>
          <a:lstStyle/>
          <a:p>
            <a:pPr algn="ctr">
              <a:lnSpc>
                <a:spcPct val="115000"/>
              </a:lnSpc>
            </a:pPr>
            <a:r>
              <a:rPr sz="1400" b="0" i="0">
                <a:solidFill>
                  <a:srgbClr val="2E5A88"/>
                </a:solidFill>
                <a:latin typeface="Calibri"/>
              </a:rPr>
              <a:t>↓</a:t>
            </a:r>
          </a:p>
        </p:txBody>
      </p:sp>
      <p:sp>
        <p:nvSpPr>
          <p:cNvPr id="23" name="Rectangle 22"/>
          <p:cNvSpPr/>
          <p:nvPr/>
        </p:nvSpPr>
        <p:spPr>
          <a:xfrm>
            <a:off x="822960" y="5641848"/>
            <a:ext cx="457200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41848"/>
            <a:ext cx="4572000" cy="566928"/>
          </a:xfrm>
          <a:prstGeom prst="rect">
            <a:avLst/>
          </a:prstGeom>
          <a:noFill/>
        </p:spPr>
        <p:txBody>
          <a:bodyPr wrap="square" anchor="ctr">
            <a:spAutoFit/>
          </a:bodyPr>
          <a:lstStyle/>
          <a:p>
            <a:pPr algn="ctr">
              <a:lnSpc>
                <a:spcPct val="115000"/>
              </a:lnSpc>
            </a:pPr>
            <a:r>
              <a:rPr sz="1500" b="0" i="0">
                <a:solidFill>
                  <a:srgbClr val="1A1A1A"/>
                </a:solidFill>
                <a:latin typeface="Calibri"/>
              </a:rPr>
              <a:t>Gestion du profil</a:t>
            </a:r>
          </a:p>
        </p:txBody>
      </p:sp>
      <p:sp>
        <p:nvSpPr>
          <p:cNvPr id="25" name="TextBox 24"/>
          <p:cNvSpPr txBox="1"/>
          <p:nvPr/>
        </p:nvSpPr>
        <p:spPr>
          <a:xfrm>
            <a:off x="5852160" y="1463040"/>
            <a:ext cx="5669280" cy="365760"/>
          </a:xfrm>
          <a:prstGeom prst="rect">
            <a:avLst/>
          </a:prstGeom>
          <a:noFill/>
        </p:spPr>
        <p:txBody>
          <a:bodyPr wrap="square" anchor="t">
            <a:spAutoFit/>
          </a:bodyPr>
          <a:lstStyle/>
          <a:p>
            <a:pPr algn="l">
              <a:lnSpc>
                <a:spcPct val="115000"/>
              </a:lnSpc>
            </a:pPr>
            <a:r>
              <a:rPr sz="1600" b="1" i="0">
                <a:solidFill>
                  <a:srgbClr val="2E5A88"/>
                </a:solidFill>
                <a:latin typeface="Calibri"/>
              </a:rPr>
              <a:t>Fonctionnalités transverses :</a:t>
            </a:r>
          </a:p>
        </p:txBody>
      </p:sp>
      <p:sp>
        <p:nvSpPr>
          <p:cNvPr id="26" name="TextBox 25"/>
          <p:cNvSpPr txBox="1"/>
          <p:nvPr/>
        </p:nvSpPr>
        <p:spPr>
          <a:xfrm>
            <a:off x="5852160" y="1920240"/>
            <a:ext cx="5669280" cy="3657600"/>
          </a:xfrm>
          <a:prstGeom prst="rect">
            <a:avLst/>
          </a:prstGeom>
          <a:noFill/>
        </p:spPr>
        <p:txBody>
          <a:bodyPr wrap="square">
            <a:spAutoFit/>
          </a:bodyPr>
          <a:lstStyle/>
          <a:p>
            <a:pPr>
              <a:spcAft>
                <a:spcPts val="1400"/>
              </a:spcAft>
            </a:pPr>
            <a:r>
              <a:rPr sz="1500">
                <a:solidFill>
                  <a:srgbClr val="1A1A1A"/>
                </a:solidFill>
                <a:latin typeface="Calibri"/>
              </a:rPr>
              <a:t>•  Notifications (centre de notifications)</a:t>
            </a:r>
          </a:p>
          <a:p>
            <a:pPr>
              <a:spcAft>
                <a:spcPts val="1400"/>
              </a:spcAft>
            </a:pPr>
            <a:r>
              <a:rPr sz="1500">
                <a:solidFill>
                  <a:srgbClr val="1A1A1A"/>
                </a:solidFill>
                <a:latin typeface="Calibri"/>
              </a:rPr>
              <a:t>•  Dark mode (thème clair/sombre persistant)</a:t>
            </a:r>
          </a:p>
          <a:p>
            <a:pPr>
              <a:spcAft>
                <a:spcPts val="1400"/>
              </a:spcAft>
            </a:pPr>
            <a:r>
              <a:rPr sz="1500">
                <a:solidFill>
                  <a:srgbClr val="1A1A1A"/>
                </a:solidFill>
                <a:latin typeface="Calibri"/>
              </a:rPr>
              <a:t>•  Recherche, filtres, tri, pagination (historique)</a:t>
            </a:r>
          </a:p>
          <a:p>
            <a:pPr>
              <a:spcAft>
                <a:spcPts val="1400"/>
              </a:spcAft>
            </a:pPr>
            <a:r>
              <a:rPr sz="1500">
                <a:solidFill>
                  <a:srgbClr val="1A1A1A"/>
                </a:solidFill>
                <a:latin typeface="Calibri"/>
              </a:rPr>
              <a:t>•  Statistiques et graphiques (dashboard)</a:t>
            </a:r>
          </a:p>
          <a:p>
            <a:pPr>
              <a:spcAft>
                <a:spcPts val="1400"/>
              </a:spcAft>
            </a:pPr>
            <a:r>
              <a:rPr sz="1500">
                <a:solidFill>
                  <a:srgbClr val="1A1A1A"/>
                </a:solidFill>
                <a:latin typeface="Calibri"/>
              </a:rPr>
              <a:t>•  Édition du profil, changement de mot de passe, suppression de compte</a:t>
            </a:r>
          </a:p>
        </p:txBody>
      </p:sp>
      <p:sp>
        <p:nvSpPr>
          <p:cNvPr id="27" name="TextBox 26"/>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28" name="TextBox 27"/>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Architecture globale</a:t>
            </a:r>
          </a:p>
        </p:txBody>
      </p:sp>
      <p:sp>
        <p:nvSpPr>
          <p:cNvPr id="4" name="TextBox 3"/>
          <p:cNvSpPr txBox="1"/>
          <p:nvPr/>
        </p:nvSpPr>
        <p:spPr>
          <a:xfrm>
            <a:off x="457200" y="640080"/>
            <a:ext cx="9601200" cy="365760"/>
          </a:xfrm>
          <a:prstGeom prst="rect">
            <a:avLst/>
          </a:prstGeom>
          <a:noFill/>
        </p:spPr>
        <p:txBody>
          <a:bodyPr wrap="square" anchor="ctr">
            <a:spAutoFit/>
          </a:bodyPr>
          <a:lstStyle/>
          <a:p>
            <a:pPr algn="l">
              <a:lnSpc>
                <a:spcPct val="115000"/>
              </a:lnSpc>
            </a:pPr>
            <a:r>
              <a:rPr sz="1300" b="0" i="1">
                <a:solidFill>
                  <a:srgbClr val="DCE6F0"/>
                </a:solidFill>
                <a:latin typeface="Calibri"/>
              </a:rPr>
              <a:t>Comprehensible en un coup d'oeil</a:t>
            </a:r>
          </a:p>
        </p:txBody>
      </p:sp>
      <p:sp>
        <p:nvSpPr>
          <p:cNvPr id="5" name="TextBox 4"/>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5</a:t>
            </a:r>
          </a:p>
        </p:txBody>
      </p:sp>
      <p:pic>
        <p:nvPicPr>
          <p:cNvPr id="6" name="Picture 5" descr="figure_01_architecture_globale.png"/>
          <p:cNvPicPr>
            <a:picLocks noChangeAspect="1"/>
          </p:cNvPicPr>
          <p:nvPr/>
        </p:nvPicPr>
        <p:blipFill>
          <a:blip r:embed="rId2"/>
          <a:stretch>
            <a:fillRect/>
          </a:stretch>
        </p:blipFill>
        <p:spPr>
          <a:xfrm>
            <a:off x="3815713" y="1234440"/>
            <a:ext cx="4621534" cy="5212080"/>
          </a:xfrm>
          <a:prstGeom prst="rect">
            <a:avLst/>
          </a:prstGeom>
        </p:spPr>
      </p:pic>
      <p:sp>
        <p:nvSpPr>
          <p:cNvPr id="7" name="TextBox 6"/>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8" name="TextBox 7"/>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Technologies utilisées</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6</a:t>
            </a:r>
          </a:p>
        </p:txBody>
      </p:sp>
      <p:sp>
        <p:nvSpPr>
          <p:cNvPr id="5" name="Rectangle 4"/>
          <p:cNvSpPr/>
          <p:nvPr/>
        </p:nvSpPr>
        <p:spPr>
          <a:xfrm>
            <a:off x="502920" y="1554480"/>
            <a:ext cx="2651760" cy="5029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54480"/>
            <a:ext cx="2651760" cy="502920"/>
          </a:xfrm>
          <a:prstGeom prst="rect">
            <a:avLst/>
          </a:prstGeom>
          <a:noFill/>
        </p:spPr>
        <p:txBody>
          <a:bodyPr wrap="square" anchor="ctr">
            <a:spAutoFit/>
          </a:bodyPr>
          <a:lstStyle/>
          <a:p>
            <a:pPr algn="ctr">
              <a:lnSpc>
                <a:spcPct val="115000"/>
              </a:lnSpc>
            </a:pPr>
            <a:r>
              <a:rPr sz="1600" b="1" i="0">
                <a:solidFill>
                  <a:srgbClr val="FFFFFF"/>
                </a:solidFill>
                <a:latin typeface="Calibri"/>
              </a:rPr>
              <a:t>IA</a:t>
            </a:r>
          </a:p>
        </p:txBody>
      </p:sp>
      <p:sp>
        <p:nvSpPr>
          <p:cNvPr id="7" name="Rectangle 6"/>
          <p:cNvSpPr/>
          <p:nvPr/>
        </p:nvSpPr>
        <p:spPr>
          <a:xfrm>
            <a:off x="502920" y="2057400"/>
            <a:ext cx="2651760"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40280"/>
            <a:ext cx="2377440" cy="2103120"/>
          </a:xfrm>
          <a:prstGeom prst="rect">
            <a:avLst/>
          </a:prstGeom>
          <a:noFill/>
        </p:spPr>
        <p:txBody>
          <a:bodyPr wrap="square">
            <a:spAutoFit/>
          </a:bodyPr>
          <a:lstStyle/>
          <a:p>
            <a:pPr>
              <a:spcAft>
                <a:spcPts val="800"/>
              </a:spcAft>
            </a:pPr>
            <a:r>
              <a:rPr sz="1300">
                <a:solidFill>
                  <a:srgbClr val="1A1A1A"/>
                </a:solidFill>
                <a:latin typeface="Calibri"/>
              </a:rPr>
              <a:t>•  Python</a:t>
            </a:r>
          </a:p>
          <a:p>
            <a:pPr>
              <a:spcAft>
                <a:spcPts val="800"/>
              </a:spcAft>
            </a:pPr>
            <a:r>
              <a:rPr sz="1300">
                <a:solidFill>
                  <a:srgbClr val="1A1A1A"/>
                </a:solidFill>
                <a:latin typeface="Calibri"/>
              </a:rPr>
              <a:t>•  TensorFlow / Keras</a:t>
            </a:r>
          </a:p>
          <a:p>
            <a:pPr>
              <a:spcAft>
                <a:spcPts val="800"/>
              </a:spcAft>
            </a:pPr>
            <a:r>
              <a:rPr sz="1300">
                <a:solidFill>
                  <a:srgbClr val="1A1A1A"/>
                </a:solidFill>
                <a:latin typeface="Calibri"/>
              </a:rPr>
              <a:t>•  MobileNetV2</a:t>
            </a:r>
          </a:p>
        </p:txBody>
      </p:sp>
      <p:sp>
        <p:nvSpPr>
          <p:cNvPr id="9" name="Rectangle 8"/>
          <p:cNvSpPr/>
          <p:nvPr/>
        </p:nvSpPr>
        <p:spPr>
          <a:xfrm>
            <a:off x="3337560" y="1554480"/>
            <a:ext cx="2651760" cy="5029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554480"/>
            <a:ext cx="2651760" cy="502920"/>
          </a:xfrm>
          <a:prstGeom prst="rect">
            <a:avLst/>
          </a:prstGeom>
          <a:noFill/>
        </p:spPr>
        <p:txBody>
          <a:bodyPr wrap="square" anchor="ctr">
            <a:spAutoFit/>
          </a:bodyPr>
          <a:lstStyle/>
          <a:p>
            <a:pPr algn="ctr">
              <a:lnSpc>
                <a:spcPct val="115000"/>
              </a:lnSpc>
            </a:pPr>
            <a:r>
              <a:rPr sz="1600" b="1" i="0">
                <a:solidFill>
                  <a:srgbClr val="FFFFFF"/>
                </a:solidFill>
                <a:latin typeface="Calibri"/>
              </a:rPr>
              <a:t>Backend</a:t>
            </a:r>
          </a:p>
        </p:txBody>
      </p:sp>
      <p:sp>
        <p:nvSpPr>
          <p:cNvPr id="11" name="Rectangle 10"/>
          <p:cNvSpPr/>
          <p:nvPr/>
        </p:nvSpPr>
        <p:spPr>
          <a:xfrm>
            <a:off x="3337560" y="2057400"/>
            <a:ext cx="2651760"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240280"/>
            <a:ext cx="2377440" cy="2103120"/>
          </a:xfrm>
          <a:prstGeom prst="rect">
            <a:avLst/>
          </a:prstGeom>
          <a:noFill/>
        </p:spPr>
        <p:txBody>
          <a:bodyPr wrap="square">
            <a:spAutoFit/>
          </a:bodyPr>
          <a:lstStyle/>
          <a:p>
            <a:pPr>
              <a:spcAft>
                <a:spcPts val="800"/>
              </a:spcAft>
            </a:pPr>
            <a:r>
              <a:rPr sz="1300">
                <a:solidFill>
                  <a:srgbClr val="1A1A1A"/>
                </a:solidFill>
                <a:latin typeface="Calibri"/>
              </a:rPr>
              <a:t>•  FastAPI</a:t>
            </a:r>
          </a:p>
          <a:p>
            <a:pPr>
              <a:spcAft>
                <a:spcPts val="800"/>
              </a:spcAft>
            </a:pPr>
            <a:r>
              <a:rPr sz="1300">
                <a:solidFill>
                  <a:srgbClr val="1A1A1A"/>
                </a:solidFill>
                <a:latin typeface="Calibri"/>
              </a:rPr>
              <a:t>•  SQLAlchemy</a:t>
            </a:r>
          </a:p>
          <a:p>
            <a:pPr>
              <a:spcAft>
                <a:spcPts val="800"/>
              </a:spcAft>
            </a:pPr>
            <a:r>
              <a:rPr sz="1300">
                <a:solidFill>
                  <a:srgbClr val="1A1A1A"/>
                </a:solidFill>
                <a:latin typeface="Calibri"/>
              </a:rPr>
              <a:t>•  MySQL</a:t>
            </a:r>
          </a:p>
          <a:p>
            <a:pPr>
              <a:spcAft>
                <a:spcPts val="800"/>
              </a:spcAft>
            </a:pPr>
            <a:r>
              <a:rPr sz="1300">
                <a:solidFill>
                  <a:srgbClr val="1A1A1A"/>
                </a:solidFill>
                <a:latin typeface="Calibri"/>
              </a:rPr>
              <a:t>•  JWT</a:t>
            </a:r>
          </a:p>
        </p:txBody>
      </p:sp>
      <p:sp>
        <p:nvSpPr>
          <p:cNvPr id="13" name="Rectangle 12"/>
          <p:cNvSpPr/>
          <p:nvPr/>
        </p:nvSpPr>
        <p:spPr>
          <a:xfrm>
            <a:off x="6172200" y="1554480"/>
            <a:ext cx="2651760" cy="5029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60" cy="502920"/>
          </a:xfrm>
          <a:prstGeom prst="rect">
            <a:avLst/>
          </a:prstGeom>
          <a:noFill/>
        </p:spPr>
        <p:txBody>
          <a:bodyPr wrap="square" anchor="ctr">
            <a:spAutoFit/>
          </a:bodyPr>
          <a:lstStyle/>
          <a:p>
            <a:pPr algn="ctr">
              <a:lnSpc>
                <a:spcPct val="115000"/>
              </a:lnSpc>
            </a:pPr>
            <a:r>
              <a:rPr sz="1600" b="1" i="0">
                <a:solidFill>
                  <a:srgbClr val="FFFFFF"/>
                </a:solidFill>
                <a:latin typeface="Calibri"/>
              </a:rPr>
              <a:t>Frontend</a:t>
            </a:r>
          </a:p>
        </p:txBody>
      </p:sp>
      <p:sp>
        <p:nvSpPr>
          <p:cNvPr id="15" name="Rectangle 14"/>
          <p:cNvSpPr/>
          <p:nvPr/>
        </p:nvSpPr>
        <p:spPr>
          <a:xfrm>
            <a:off x="6172200" y="2057400"/>
            <a:ext cx="2651760"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240280"/>
            <a:ext cx="2377440" cy="2103120"/>
          </a:xfrm>
          <a:prstGeom prst="rect">
            <a:avLst/>
          </a:prstGeom>
          <a:noFill/>
        </p:spPr>
        <p:txBody>
          <a:bodyPr wrap="square">
            <a:spAutoFit/>
          </a:bodyPr>
          <a:lstStyle/>
          <a:p>
            <a:pPr>
              <a:spcAft>
                <a:spcPts val="800"/>
              </a:spcAft>
            </a:pPr>
            <a:r>
              <a:rPr sz="1300">
                <a:solidFill>
                  <a:srgbClr val="1A1A1A"/>
                </a:solidFill>
                <a:latin typeface="Calibri"/>
              </a:rPr>
              <a:t>•  React</a:t>
            </a:r>
          </a:p>
          <a:p>
            <a:pPr>
              <a:spcAft>
                <a:spcPts val="800"/>
              </a:spcAft>
            </a:pPr>
            <a:r>
              <a:rPr sz="1300">
                <a:solidFill>
                  <a:srgbClr val="1A1A1A"/>
                </a:solidFill>
                <a:latin typeface="Calibri"/>
              </a:rPr>
              <a:t>•  Vite</a:t>
            </a:r>
          </a:p>
          <a:p>
            <a:pPr>
              <a:spcAft>
                <a:spcPts val="800"/>
              </a:spcAft>
            </a:pPr>
            <a:r>
              <a:rPr sz="1300">
                <a:solidFill>
                  <a:srgbClr val="1A1A1A"/>
                </a:solidFill>
                <a:latin typeface="Calibri"/>
              </a:rPr>
              <a:t>•  Axios</a:t>
            </a:r>
          </a:p>
          <a:p>
            <a:pPr>
              <a:spcAft>
                <a:spcPts val="800"/>
              </a:spcAft>
            </a:pPr>
            <a:r>
              <a:rPr sz="1300">
                <a:solidFill>
                  <a:srgbClr val="1A1A1A"/>
                </a:solidFill>
                <a:latin typeface="Calibri"/>
              </a:rPr>
              <a:t>•  Recharts</a:t>
            </a:r>
          </a:p>
        </p:txBody>
      </p:sp>
      <p:sp>
        <p:nvSpPr>
          <p:cNvPr id="17" name="Rectangle 16"/>
          <p:cNvSpPr/>
          <p:nvPr/>
        </p:nvSpPr>
        <p:spPr>
          <a:xfrm>
            <a:off x="9006840" y="1554480"/>
            <a:ext cx="2651760" cy="5029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1554480"/>
            <a:ext cx="2651760" cy="502920"/>
          </a:xfrm>
          <a:prstGeom prst="rect">
            <a:avLst/>
          </a:prstGeom>
          <a:noFill/>
        </p:spPr>
        <p:txBody>
          <a:bodyPr wrap="square" anchor="ctr">
            <a:spAutoFit/>
          </a:bodyPr>
          <a:lstStyle/>
          <a:p>
            <a:pPr algn="ctr">
              <a:lnSpc>
                <a:spcPct val="115000"/>
              </a:lnSpc>
            </a:pPr>
            <a:r>
              <a:rPr sz="1600" b="1" i="0">
                <a:solidFill>
                  <a:srgbClr val="FFFFFF"/>
                </a:solidFill>
                <a:latin typeface="Calibri"/>
              </a:rPr>
              <a:t>Déploiement</a:t>
            </a:r>
          </a:p>
        </p:txBody>
      </p:sp>
      <p:sp>
        <p:nvSpPr>
          <p:cNvPr id="19" name="Rectangle 18"/>
          <p:cNvSpPr/>
          <p:nvPr/>
        </p:nvSpPr>
        <p:spPr>
          <a:xfrm>
            <a:off x="9006840" y="2057400"/>
            <a:ext cx="2651760"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2240280"/>
            <a:ext cx="2377440" cy="2103120"/>
          </a:xfrm>
          <a:prstGeom prst="rect">
            <a:avLst/>
          </a:prstGeom>
          <a:noFill/>
        </p:spPr>
        <p:txBody>
          <a:bodyPr wrap="square">
            <a:spAutoFit/>
          </a:bodyPr>
          <a:lstStyle/>
          <a:p>
            <a:pPr>
              <a:spcAft>
                <a:spcPts val="800"/>
              </a:spcAft>
            </a:pPr>
            <a:r>
              <a:rPr sz="1300">
                <a:solidFill>
                  <a:srgbClr val="1A1A1A"/>
                </a:solidFill>
                <a:latin typeface="Calibri"/>
              </a:rPr>
              <a:t>•  Docker</a:t>
            </a:r>
          </a:p>
          <a:p>
            <a:pPr>
              <a:spcAft>
                <a:spcPts val="800"/>
              </a:spcAft>
            </a:pPr>
            <a:r>
              <a:rPr sz="1300">
                <a:solidFill>
                  <a:srgbClr val="1A1A1A"/>
                </a:solidFill>
                <a:latin typeface="Calibri"/>
              </a:rPr>
              <a:t>•  Railway</a:t>
            </a:r>
          </a:p>
        </p:txBody>
      </p:sp>
      <p:sp>
        <p:nvSpPr>
          <p:cNvPr id="21" name="TextBox 20"/>
          <p:cNvSpPr txBox="1"/>
          <p:nvPr/>
        </p:nvSpPr>
        <p:spPr>
          <a:xfrm>
            <a:off x="502920" y="4663440"/>
            <a:ext cx="10515600" cy="457200"/>
          </a:xfrm>
          <a:prstGeom prst="rect">
            <a:avLst/>
          </a:prstGeom>
          <a:noFill/>
        </p:spPr>
        <p:txBody>
          <a:bodyPr wrap="square" anchor="t">
            <a:spAutoFit/>
          </a:bodyPr>
          <a:lstStyle/>
          <a:p>
            <a:pPr algn="l">
              <a:lnSpc>
                <a:spcPct val="115000"/>
              </a:lnSpc>
            </a:pPr>
            <a:r>
              <a:rPr sz="1300" b="0" i="1">
                <a:solidFill>
                  <a:srgbClr val="555555"/>
                </a:solidFill>
                <a:latin typeface="Calibri"/>
              </a:rPr>
              <a:t>Documentation : Markdown, diagrammes Mermaid / figures générées à partir des données réelles du projet.</a:t>
            </a:r>
          </a:p>
        </p:txBody>
      </p:sp>
      <p:sp>
        <p:nvSpPr>
          <p:cNvPr id="22" name="TextBox 21"/>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23" name="TextBox 22"/>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Dataset et préparation des données</a:t>
            </a:r>
          </a:p>
        </p:txBody>
      </p:sp>
      <p:sp>
        <p:nvSpPr>
          <p:cNvPr id="4" name="TextBox 3"/>
          <p:cNvSpPr txBox="1"/>
          <p:nvPr/>
        </p:nvSpPr>
        <p:spPr>
          <a:xfrm>
            <a:off x="457200" y="640080"/>
            <a:ext cx="9601200" cy="365760"/>
          </a:xfrm>
          <a:prstGeom prst="rect">
            <a:avLst/>
          </a:prstGeom>
          <a:noFill/>
        </p:spPr>
        <p:txBody>
          <a:bodyPr wrap="square" anchor="ctr">
            <a:spAutoFit/>
          </a:bodyPr>
          <a:lstStyle/>
          <a:p>
            <a:pPr algn="l">
              <a:lnSpc>
                <a:spcPct val="115000"/>
              </a:lnSpc>
            </a:pPr>
            <a:r>
              <a:rPr sz="1300" b="0" i="1">
                <a:solidFill>
                  <a:srgbClr val="DCE6F0"/>
                </a:solidFill>
                <a:latin typeface="Calibri"/>
              </a:rPr>
              <a:t>MVTec AD — catégorie bottle</a:t>
            </a:r>
          </a:p>
        </p:txBody>
      </p:sp>
      <p:sp>
        <p:nvSpPr>
          <p:cNvPr id="5" name="TextBox 4"/>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7</a:t>
            </a:r>
          </a:p>
        </p:txBody>
      </p:sp>
      <p:pic>
        <p:nvPicPr>
          <p:cNvPr id="6" name="Picture 5" descr="figure_05a_dataset_brut.png"/>
          <p:cNvPicPr>
            <a:picLocks noChangeAspect="1"/>
          </p:cNvPicPr>
          <p:nvPr/>
        </p:nvPicPr>
        <p:blipFill>
          <a:blip r:embed="rId2"/>
          <a:stretch>
            <a:fillRect/>
          </a:stretch>
        </p:blipFill>
        <p:spPr>
          <a:xfrm>
            <a:off x="995969" y="1371600"/>
            <a:ext cx="4317421" cy="2834640"/>
          </a:xfrm>
          <a:prstGeom prst="rect">
            <a:avLst/>
          </a:prstGeom>
        </p:spPr>
      </p:pic>
      <p:pic>
        <p:nvPicPr>
          <p:cNvPr id="7" name="Picture 6" descr="figure_05b_dataset_augmente.png"/>
          <p:cNvPicPr>
            <a:picLocks noChangeAspect="1"/>
          </p:cNvPicPr>
          <p:nvPr/>
        </p:nvPicPr>
        <p:blipFill>
          <a:blip r:embed="rId3"/>
          <a:stretch>
            <a:fillRect/>
          </a:stretch>
        </p:blipFill>
        <p:spPr>
          <a:xfrm>
            <a:off x="6035040" y="1374566"/>
            <a:ext cx="5760720" cy="2828707"/>
          </a:xfrm>
          <a:prstGeom prst="rect">
            <a:avLst/>
          </a:prstGeom>
        </p:spPr>
      </p:pic>
      <p:sp>
        <p:nvSpPr>
          <p:cNvPr id="8" name="TextBox 7"/>
          <p:cNvSpPr txBox="1"/>
          <p:nvPr/>
        </p:nvSpPr>
        <p:spPr>
          <a:xfrm>
            <a:off x="548640" y="4343400"/>
            <a:ext cx="10972800" cy="2011680"/>
          </a:xfrm>
          <a:prstGeom prst="rect">
            <a:avLst/>
          </a:prstGeom>
          <a:noFill/>
        </p:spPr>
        <p:txBody>
          <a:bodyPr wrap="square">
            <a:spAutoFit/>
          </a:bodyPr>
          <a:lstStyle/>
          <a:p>
            <a:pPr>
              <a:spcAft>
                <a:spcPts val="1000"/>
              </a:spcAft>
            </a:pPr>
            <a:r>
              <a:rPr sz="1600">
                <a:solidFill>
                  <a:srgbClr val="1A1A1A"/>
                </a:solidFill>
                <a:latin typeface="Calibri"/>
              </a:rPr>
              <a:t>•  4 classes : good, broken_large, broken_small, contamination</a:t>
            </a:r>
          </a:p>
          <a:p>
            <a:pPr>
              <a:spcAft>
                <a:spcPts val="1000"/>
              </a:spcAft>
            </a:pPr>
            <a:r>
              <a:rPr sz="1600">
                <a:solidFill>
                  <a:srgbClr val="1A1A1A"/>
                </a:solidFill>
                <a:latin typeface="Calibri"/>
              </a:rPr>
              <a:t>•  292 images brutes → dataset augmenté équilibré : 800 images en entraînement (200/classe), 160 en test (40/classe)</a:t>
            </a:r>
          </a:p>
          <a:p>
            <a:pPr>
              <a:spcAft>
                <a:spcPts val="1000"/>
              </a:spcAft>
            </a:pPr>
            <a:r>
              <a:rPr sz="1600">
                <a:solidFill>
                  <a:srgbClr val="1A1A1A"/>
                </a:solidFill>
                <a:latin typeface="Calibri"/>
              </a:rPr>
              <a:t>•  Augmentation : RandomFlip, RandomRotation, RandomZoom, RandomBrightness</a:t>
            </a:r>
          </a:p>
        </p:txBody>
      </p:sp>
      <p:sp>
        <p:nvSpPr>
          <p:cNvPr id="9" name="TextBox 8"/>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10" name="TextBox 9"/>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Approche IA</a:t>
            </a:r>
          </a:p>
        </p:txBody>
      </p:sp>
      <p:sp>
        <p:nvSpPr>
          <p:cNvPr id="4" name="TextBox 3"/>
          <p:cNvSpPr txBox="1"/>
          <p:nvPr/>
        </p:nvSpPr>
        <p:spPr>
          <a:xfrm>
            <a:off x="457200" y="640080"/>
            <a:ext cx="9601200" cy="365760"/>
          </a:xfrm>
          <a:prstGeom prst="rect">
            <a:avLst/>
          </a:prstGeom>
          <a:noFill/>
        </p:spPr>
        <p:txBody>
          <a:bodyPr wrap="square" anchor="ctr">
            <a:spAutoFit/>
          </a:bodyPr>
          <a:lstStyle/>
          <a:p>
            <a:pPr algn="l">
              <a:lnSpc>
                <a:spcPct val="115000"/>
              </a:lnSpc>
            </a:pPr>
            <a:r>
              <a:rPr sz="1300" b="0" i="1">
                <a:solidFill>
                  <a:srgbClr val="DCE6F0"/>
                </a:solidFill>
                <a:latin typeface="Calibri"/>
              </a:rPr>
              <a:t>Transfer learning — MobileNetV2</a:t>
            </a:r>
          </a:p>
        </p:txBody>
      </p:sp>
      <p:sp>
        <p:nvSpPr>
          <p:cNvPr id="5" name="TextBox 4"/>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8</a:t>
            </a:r>
          </a:p>
        </p:txBody>
      </p:sp>
      <p:pic>
        <p:nvPicPr>
          <p:cNvPr id="6" name="Picture 5" descr="figure_02_architecture_ia.png"/>
          <p:cNvPicPr>
            <a:picLocks noChangeAspect="1"/>
          </p:cNvPicPr>
          <p:nvPr/>
        </p:nvPicPr>
        <p:blipFill>
          <a:blip r:embed="rId2"/>
          <a:stretch>
            <a:fillRect/>
          </a:stretch>
        </p:blipFill>
        <p:spPr>
          <a:xfrm>
            <a:off x="1265639" y="1280160"/>
            <a:ext cx="2955122" cy="5212080"/>
          </a:xfrm>
          <a:prstGeom prst="rect">
            <a:avLst/>
          </a:prstGeom>
        </p:spPr>
      </p:pic>
      <p:sp>
        <p:nvSpPr>
          <p:cNvPr id="7" name="TextBox 6"/>
          <p:cNvSpPr txBox="1"/>
          <p:nvPr/>
        </p:nvSpPr>
        <p:spPr>
          <a:xfrm>
            <a:off x="5394960" y="1463040"/>
            <a:ext cx="6309360" cy="4114800"/>
          </a:xfrm>
          <a:prstGeom prst="rect">
            <a:avLst/>
          </a:prstGeom>
          <a:noFill/>
        </p:spPr>
        <p:txBody>
          <a:bodyPr wrap="square">
            <a:spAutoFit/>
          </a:bodyPr>
          <a:lstStyle/>
          <a:p>
            <a:pPr>
              <a:spcAft>
                <a:spcPts val="1600"/>
              </a:spcAft>
            </a:pPr>
            <a:r>
              <a:rPr sz="1700">
                <a:solidFill>
                  <a:srgbClr val="1A1A1A"/>
                </a:solidFill>
                <a:latin typeface="Calibri"/>
              </a:rPr>
              <a:t>•  4 architectures comparées dans des conditions identiques : CNN (from scratch), MobileNetV2, EfficientNetB0, ResNet50</a:t>
            </a:r>
          </a:p>
          <a:p>
            <a:pPr>
              <a:spcAft>
                <a:spcPts val="1600"/>
              </a:spcAft>
            </a:pPr>
            <a:r>
              <a:rPr sz="1700">
                <a:solidFill>
                  <a:srgbClr val="1A1A1A"/>
                </a:solidFill>
                <a:latin typeface="Calibri"/>
              </a:rPr>
              <a:t>•  Backbone pré-entraîné sur ImageNet, gelé (feature extraction)</a:t>
            </a:r>
          </a:p>
          <a:p>
            <a:pPr>
              <a:spcAft>
                <a:spcPts val="1600"/>
              </a:spcAft>
            </a:pPr>
            <a:r>
              <a:rPr sz="1700">
                <a:solidFill>
                  <a:srgbClr val="1A1A1A"/>
                </a:solidFill>
                <a:latin typeface="Calibri"/>
              </a:rPr>
              <a:t>•  Preprocessing MobileNetV2 intégré au graphe du modèle (pas de double normalisation)</a:t>
            </a:r>
          </a:p>
          <a:p>
            <a:pPr>
              <a:spcAft>
                <a:spcPts val="1600"/>
              </a:spcAft>
            </a:pPr>
            <a:r>
              <a:rPr sz="1700">
                <a:solidFill>
                  <a:srgbClr val="1A1A1A"/>
                </a:solidFill>
                <a:latin typeface="Calibri"/>
              </a:rPr>
              <a:t>•  MobileNetV2 retenu comme meilleur compromis entre performance, taille (9.24 Mo) et rapidité (9.16 ms d'inférence)</a:t>
            </a:r>
          </a:p>
        </p:txBody>
      </p:sp>
      <p:sp>
        <p:nvSpPr>
          <p:cNvPr id="8" name="TextBox 7"/>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9" name="TextBox 8"/>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Comparaison des architectures</a:t>
            </a:r>
          </a:p>
        </p:txBody>
      </p:sp>
      <p:sp>
        <p:nvSpPr>
          <p:cNvPr id="4" name="TextBox 3"/>
          <p:cNvSpPr txBox="1"/>
          <p:nvPr/>
        </p:nvSpPr>
        <p:spPr>
          <a:xfrm>
            <a:off x="457200" y="640080"/>
            <a:ext cx="9601200" cy="365760"/>
          </a:xfrm>
          <a:prstGeom prst="rect">
            <a:avLst/>
          </a:prstGeom>
          <a:noFill/>
        </p:spPr>
        <p:txBody>
          <a:bodyPr wrap="square" anchor="ctr">
            <a:spAutoFit/>
          </a:bodyPr>
          <a:lstStyle/>
          <a:p>
            <a:pPr algn="l">
              <a:lnSpc>
                <a:spcPct val="115000"/>
              </a:lnSpc>
            </a:pPr>
            <a:r>
              <a:rPr sz="1300" b="0" i="1">
                <a:solidFill>
                  <a:srgbClr val="DCE6F0"/>
                </a:solidFill>
                <a:latin typeface="Calibri"/>
              </a:rPr>
              <a:t>Valeurs lues depuis ai/results/</a:t>
            </a:r>
          </a:p>
        </p:txBody>
      </p:sp>
      <p:sp>
        <p:nvSpPr>
          <p:cNvPr id="5" name="TextBox 4"/>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9</a:t>
            </a:r>
          </a:p>
        </p:txBody>
      </p:sp>
      <p:pic>
        <p:nvPicPr>
          <p:cNvPr id="6" name="Picture 5" descr="figure_11a_comparaison_f1.png"/>
          <p:cNvPicPr>
            <a:picLocks noChangeAspect="1"/>
          </p:cNvPicPr>
          <p:nvPr/>
        </p:nvPicPr>
        <p:blipFill>
          <a:blip r:embed="rId2"/>
          <a:stretch>
            <a:fillRect/>
          </a:stretch>
        </p:blipFill>
        <p:spPr>
          <a:xfrm>
            <a:off x="274320" y="2452562"/>
            <a:ext cx="3931920" cy="2775836"/>
          </a:xfrm>
          <a:prstGeom prst="rect">
            <a:avLst/>
          </a:prstGeom>
        </p:spPr>
      </p:pic>
      <p:pic>
        <p:nvPicPr>
          <p:cNvPr id="7" name="Picture 6" descr="figure_11b_comparaison_inference.png"/>
          <p:cNvPicPr>
            <a:picLocks noChangeAspect="1"/>
          </p:cNvPicPr>
          <p:nvPr/>
        </p:nvPicPr>
        <p:blipFill>
          <a:blip r:embed="rId3"/>
          <a:stretch>
            <a:fillRect/>
          </a:stretch>
        </p:blipFill>
        <p:spPr>
          <a:xfrm>
            <a:off x="4206240" y="2453652"/>
            <a:ext cx="3931920" cy="2773656"/>
          </a:xfrm>
          <a:prstGeom prst="rect">
            <a:avLst/>
          </a:prstGeom>
        </p:spPr>
      </p:pic>
      <p:pic>
        <p:nvPicPr>
          <p:cNvPr id="8" name="Picture 7" descr="figure_11c_comparaison_taille.png"/>
          <p:cNvPicPr>
            <a:picLocks noChangeAspect="1"/>
          </p:cNvPicPr>
          <p:nvPr/>
        </p:nvPicPr>
        <p:blipFill>
          <a:blip r:embed="rId4"/>
          <a:stretch>
            <a:fillRect/>
          </a:stretch>
        </p:blipFill>
        <p:spPr>
          <a:xfrm>
            <a:off x="8138160" y="2453652"/>
            <a:ext cx="3931920" cy="2773656"/>
          </a:xfrm>
          <a:prstGeom prst="rect">
            <a:avLst/>
          </a:prstGeom>
        </p:spPr>
      </p:pic>
      <p:sp>
        <p:nvSpPr>
          <p:cNvPr id="9" name="TextBox 8"/>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10" name="TextBox 9"/>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Résultats du modèle retenu</a:t>
            </a:r>
          </a:p>
        </p:txBody>
      </p:sp>
      <p:sp>
        <p:nvSpPr>
          <p:cNvPr id="4" name="TextBox 3"/>
          <p:cNvSpPr txBox="1"/>
          <p:nvPr/>
        </p:nvSpPr>
        <p:spPr>
          <a:xfrm>
            <a:off x="457200" y="640080"/>
            <a:ext cx="9601200" cy="365760"/>
          </a:xfrm>
          <a:prstGeom prst="rect">
            <a:avLst/>
          </a:prstGeom>
          <a:noFill/>
        </p:spPr>
        <p:txBody>
          <a:bodyPr wrap="square" anchor="ctr">
            <a:spAutoFit/>
          </a:bodyPr>
          <a:lstStyle/>
          <a:p>
            <a:pPr algn="l">
              <a:lnSpc>
                <a:spcPct val="115000"/>
              </a:lnSpc>
            </a:pPr>
            <a:r>
              <a:rPr sz="1300" b="0" i="1">
                <a:solidFill>
                  <a:srgbClr val="DCE6F0"/>
                </a:solidFill>
                <a:latin typeface="Calibri"/>
              </a:rPr>
              <a:t>MobileNetV2 — jeu de test (160 images)</a:t>
            </a:r>
          </a:p>
        </p:txBody>
      </p:sp>
      <p:sp>
        <p:nvSpPr>
          <p:cNvPr id="5" name="TextBox 4"/>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10</a:t>
            </a:r>
          </a:p>
        </p:txBody>
      </p:sp>
      <p:pic>
        <p:nvPicPr>
          <p:cNvPr id="6" name="Picture 5" descr="figure_09_matrice_confusion.png"/>
          <p:cNvPicPr>
            <a:picLocks noChangeAspect="1"/>
          </p:cNvPicPr>
          <p:nvPr/>
        </p:nvPicPr>
        <p:blipFill>
          <a:blip r:embed="rId2"/>
          <a:stretch>
            <a:fillRect/>
          </a:stretch>
        </p:blipFill>
        <p:spPr>
          <a:xfrm>
            <a:off x="1373363" y="1280160"/>
            <a:ext cx="2922554" cy="2743200"/>
          </a:xfrm>
          <a:prstGeom prst="rect">
            <a:avLst/>
          </a:prstGeom>
        </p:spPr>
      </p:pic>
      <p:pic>
        <p:nvPicPr>
          <p:cNvPr id="7" name="Picture 6" descr="figure_10_classification_report.png"/>
          <p:cNvPicPr>
            <a:picLocks noChangeAspect="1"/>
          </p:cNvPicPr>
          <p:nvPr/>
        </p:nvPicPr>
        <p:blipFill>
          <a:blip r:embed="rId3"/>
          <a:stretch>
            <a:fillRect/>
          </a:stretch>
        </p:blipFill>
        <p:spPr>
          <a:xfrm>
            <a:off x="6514064" y="1280160"/>
            <a:ext cx="4345471" cy="2743200"/>
          </a:xfrm>
          <a:prstGeom prst="rect">
            <a:avLst/>
          </a:prstGeom>
        </p:spPr>
      </p:pic>
      <p:sp>
        <p:nvSpPr>
          <p:cNvPr id="8" name="Rectangle 7"/>
          <p:cNvSpPr/>
          <p:nvPr/>
        </p:nvSpPr>
        <p:spPr>
          <a:xfrm>
            <a:off x="502920" y="4206240"/>
            <a:ext cx="2651760" cy="12801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343400"/>
            <a:ext cx="2651760" cy="640080"/>
          </a:xfrm>
          <a:prstGeom prst="rect">
            <a:avLst/>
          </a:prstGeom>
          <a:noFill/>
        </p:spPr>
        <p:txBody>
          <a:bodyPr wrap="square" anchor="t">
            <a:spAutoFit/>
          </a:bodyPr>
          <a:lstStyle/>
          <a:p>
            <a:pPr algn="ctr">
              <a:lnSpc>
                <a:spcPct val="115000"/>
              </a:lnSpc>
            </a:pPr>
            <a:r>
              <a:rPr sz="2600" b="1" i="0">
                <a:solidFill>
                  <a:srgbClr val="FFFFFF"/>
                </a:solidFill>
                <a:latin typeface="Calibri"/>
              </a:rPr>
              <a:t>75.62 %</a:t>
            </a:r>
          </a:p>
        </p:txBody>
      </p:sp>
      <p:sp>
        <p:nvSpPr>
          <p:cNvPr id="10" name="TextBox 9"/>
          <p:cNvSpPr txBox="1"/>
          <p:nvPr/>
        </p:nvSpPr>
        <p:spPr>
          <a:xfrm>
            <a:off x="502920" y="4983480"/>
            <a:ext cx="2651760" cy="411480"/>
          </a:xfrm>
          <a:prstGeom prst="rect">
            <a:avLst/>
          </a:prstGeom>
          <a:noFill/>
        </p:spPr>
        <p:txBody>
          <a:bodyPr wrap="square" anchor="t">
            <a:spAutoFit/>
          </a:bodyPr>
          <a:lstStyle/>
          <a:p>
            <a:pPr algn="ctr">
              <a:lnSpc>
                <a:spcPct val="115000"/>
              </a:lnSpc>
            </a:pPr>
            <a:r>
              <a:rPr sz="1300" b="0" i="0">
                <a:solidFill>
                  <a:srgbClr val="DCE6F0"/>
                </a:solidFill>
                <a:latin typeface="Calibri"/>
              </a:rPr>
              <a:t>Accuracy</a:t>
            </a:r>
          </a:p>
        </p:txBody>
      </p:sp>
      <p:sp>
        <p:nvSpPr>
          <p:cNvPr id="11" name="Rectangle 10"/>
          <p:cNvSpPr/>
          <p:nvPr/>
        </p:nvSpPr>
        <p:spPr>
          <a:xfrm>
            <a:off x="3291840" y="4206240"/>
            <a:ext cx="2651760" cy="12801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4343400"/>
            <a:ext cx="2651760" cy="640080"/>
          </a:xfrm>
          <a:prstGeom prst="rect">
            <a:avLst/>
          </a:prstGeom>
          <a:noFill/>
        </p:spPr>
        <p:txBody>
          <a:bodyPr wrap="square" anchor="t">
            <a:spAutoFit/>
          </a:bodyPr>
          <a:lstStyle/>
          <a:p>
            <a:pPr algn="ctr">
              <a:lnSpc>
                <a:spcPct val="115000"/>
              </a:lnSpc>
            </a:pPr>
            <a:r>
              <a:rPr sz="2600" b="1" i="0">
                <a:solidFill>
                  <a:srgbClr val="FFFFFF"/>
                </a:solidFill>
                <a:latin typeface="Calibri"/>
              </a:rPr>
              <a:t>0.839</a:t>
            </a:r>
          </a:p>
        </p:txBody>
      </p:sp>
      <p:sp>
        <p:nvSpPr>
          <p:cNvPr id="13" name="TextBox 12"/>
          <p:cNvSpPr txBox="1"/>
          <p:nvPr/>
        </p:nvSpPr>
        <p:spPr>
          <a:xfrm>
            <a:off x="3291840" y="4983480"/>
            <a:ext cx="2651760" cy="411480"/>
          </a:xfrm>
          <a:prstGeom prst="rect">
            <a:avLst/>
          </a:prstGeom>
          <a:noFill/>
        </p:spPr>
        <p:txBody>
          <a:bodyPr wrap="square" anchor="t">
            <a:spAutoFit/>
          </a:bodyPr>
          <a:lstStyle/>
          <a:p>
            <a:pPr algn="ctr">
              <a:lnSpc>
                <a:spcPct val="115000"/>
              </a:lnSpc>
            </a:pPr>
            <a:r>
              <a:rPr sz="1300" b="0" i="0">
                <a:solidFill>
                  <a:srgbClr val="DCE6F0"/>
                </a:solidFill>
                <a:latin typeface="Calibri"/>
              </a:rPr>
              <a:t>Precision macro</a:t>
            </a:r>
          </a:p>
        </p:txBody>
      </p:sp>
      <p:sp>
        <p:nvSpPr>
          <p:cNvPr id="14" name="Rectangle 13"/>
          <p:cNvSpPr/>
          <p:nvPr/>
        </p:nvSpPr>
        <p:spPr>
          <a:xfrm>
            <a:off x="6080760" y="4206240"/>
            <a:ext cx="2651760" cy="12801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0" y="4343400"/>
            <a:ext cx="2651760" cy="640080"/>
          </a:xfrm>
          <a:prstGeom prst="rect">
            <a:avLst/>
          </a:prstGeom>
          <a:noFill/>
        </p:spPr>
        <p:txBody>
          <a:bodyPr wrap="square" anchor="t">
            <a:spAutoFit/>
          </a:bodyPr>
          <a:lstStyle/>
          <a:p>
            <a:pPr algn="ctr">
              <a:lnSpc>
                <a:spcPct val="115000"/>
              </a:lnSpc>
            </a:pPr>
            <a:r>
              <a:rPr sz="2600" b="1" i="0">
                <a:solidFill>
                  <a:srgbClr val="FFFFFF"/>
                </a:solidFill>
                <a:latin typeface="Calibri"/>
              </a:rPr>
              <a:t>0.756</a:t>
            </a:r>
          </a:p>
        </p:txBody>
      </p:sp>
      <p:sp>
        <p:nvSpPr>
          <p:cNvPr id="16" name="TextBox 15"/>
          <p:cNvSpPr txBox="1"/>
          <p:nvPr/>
        </p:nvSpPr>
        <p:spPr>
          <a:xfrm>
            <a:off x="6080760" y="4983480"/>
            <a:ext cx="2651760" cy="411480"/>
          </a:xfrm>
          <a:prstGeom prst="rect">
            <a:avLst/>
          </a:prstGeom>
          <a:noFill/>
        </p:spPr>
        <p:txBody>
          <a:bodyPr wrap="square" anchor="t">
            <a:spAutoFit/>
          </a:bodyPr>
          <a:lstStyle/>
          <a:p>
            <a:pPr algn="ctr">
              <a:lnSpc>
                <a:spcPct val="115000"/>
              </a:lnSpc>
            </a:pPr>
            <a:r>
              <a:rPr sz="1300" b="0" i="0">
                <a:solidFill>
                  <a:srgbClr val="DCE6F0"/>
                </a:solidFill>
                <a:latin typeface="Calibri"/>
              </a:rPr>
              <a:t>Recall macro</a:t>
            </a:r>
          </a:p>
        </p:txBody>
      </p:sp>
      <p:sp>
        <p:nvSpPr>
          <p:cNvPr id="17" name="Rectangle 16"/>
          <p:cNvSpPr/>
          <p:nvPr/>
        </p:nvSpPr>
        <p:spPr>
          <a:xfrm>
            <a:off x="8869680" y="4206240"/>
            <a:ext cx="2651760" cy="12801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4343400"/>
            <a:ext cx="2651760" cy="640080"/>
          </a:xfrm>
          <a:prstGeom prst="rect">
            <a:avLst/>
          </a:prstGeom>
          <a:noFill/>
        </p:spPr>
        <p:txBody>
          <a:bodyPr wrap="square" anchor="t">
            <a:spAutoFit/>
          </a:bodyPr>
          <a:lstStyle/>
          <a:p>
            <a:pPr algn="ctr">
              <a:lnSpc>
                <a:spcPct val="115000"/>
              </a:lnSpc>
            </a:pPr>
            <a:r>
              <a:rPr sz="2600" b="1" i="0">
                <a:solidFill>
                  <a:srgbClr val="FFFFFF"/>
                </a:solidFill>
                <a:latin typeface="Calibri"/>
              </a:rPr>
              <a:t>0.742</a:t>
            </a:r>
          </a:p>
        </p:txBody>
      </p:sp>
      <p:sp>
        <p:nvSpPr>
          <p:cNvPr id="19" name="TextBox 18"/>
          <p:cNvSpPr txBox="1"/>
          <p:nvPr/>
        </p:nvSpPr>
        <p:spPr>
          <a:xfrm>
            <a:off x="8869680" y="4983480"/>
            <a:ext cx="2651760" cy="411480"/>
          </a:xfrm>
          <a:prstGeom prst="rect">
            <a:avLst/>
          </a:prstGeom>
          <a:noFill/>
        </p:spPr>
        <p:txBody>
          <a:bodyPr wrap="square" anchor="t">
            <a:spAutoFit/>
          </a:bodyPr>
          <a:lstStyle/>
          <a:p>
            <a:pPr algn="ctr">
              <a:lnSpc>
                <a:spcPct val="115000"/>
              </a:lnSpc>
            </a:pPr>
            <a:r>
              <a:rPr sz="1300" b="0" i="0">
                <a:solidFill>
                  <a:srgbClr val="DCE6F0"/>
                </a:solidFill>
                <a:latin typeface="Calibri"/>
              </a:rPr>
              <a:t>F1 macro</a:t>
            </a:r>
          </a:p>
        </p:txBody>
      </p:sp>
      <p:sp>
        <p:nvSpPr>
          <p:cNvPr id="20" name="TextBox 19"/>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21" name="TextBox 20"/>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Pipeline de prédiction</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11</a:t>
            </a:r>
          </a:p>
        </p:txBody>
      </p:sp>
      <p:pic>
        <p:nvPicPr>
          <p:cNvPr id="5" name="Picture 4" descr="figure_03_pipeline_prediction.png"/>
          <p:cNvPicPr>
            <a:picLocks noChangeAspect="1"/>
          </p:cNvPicPr>
          <p:nvPr/>
        </p:nvPicPr>
        <p:blipFill>
          <a:blip r:embed="rId2"/>
          <a:stretch>
            <a:fillRect/>
          </a:stretch>
        </p:blipFill>
        <p:spPr>
          <a:xfrm>
            <a:off x="4478020" y="1188720"/>
            <a:ext cx="3296920" cy="5394960"/>
          </a:xfrm>
          <a:prstGeom prst="rect">
            <a:avLst/>
          </a:prstGeom>
        </p:spPr>
      </p:pic>
      <p:sp>
        <p:nvSpPr>
          <p:cNvPr id="6" name="TextBox 5"/>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7" name="TextBox 6"/>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Backend — FastAPI</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12</a:t>
            </a:r>
          </a:p>
        </p:txBody>
      </p:sp>
      <p:sp>
        <p:nvSpPr>
          <p:cNvPr id="5" name="TextBox 4"/>
          <p:cNvSpPr txBox="1"/>
          <p:nvPr/>
        </p:nvSpPr>
        <p:spPr>
          <a:xfrm>
            <a:off x="548640" y="1371600"/>
            <a:ext cx="10972800" cy="365760"/>
          </a:xfrm>
          <a:prstGeom prst="rect">
            <a:avLst/>
          </a:prstGeom>
          <a:noFill/>
        </p:spPr>
        <p:txBody>
          <a:bodyPr wrap="square" anchor="t">
            <a:spAutoFit/>
          </a:bodyPr>
          <a:lstStyle/>
          <a:p>
            <a:pPr algn="l">
              <a:lnSpc>
                <a:spcPct val="115000"/>
              </a:lnSpc>
            </a:pPr>
            <a:r>
              <a:rPr sz="1600" b="0" i="1">
                <a:solidFill>
                  <a:srgbClr val="555555"/>
                </a:solidFill>
                <a:latin typeface="Calibri"/>
              </a:rPr>
              <a:t>Architecture en couches : api/ (routes) → services/ (logique métier) → models/ / schemas/ / ml/</a:t>
            </a:r>
          </a:p>
        </p:txBody>
      </p:sp>
      <p:sp>
        <p:nvSpPr>
          <p:cNvPr id="6" name="Rectangle 5"/>
          <p:cNvSpPr/>
          <p:nvPr/>
        </p:nvSpPr>
        <p:spPr>
          <a:xfrm>
            <a:off x="548640" y="2103120"/>
            <a:ext cx="1783080"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1783080" cy="822960"/>
          </a:xfrm>
          <a:prstGeom prst="rect">
            <a:avLst/>
          </a:prstGeom>
          <a:noFill/>
        </p:spPr>
        <p:txBody>
          <a:bodyPr wrap="square" anchor="ctr">
            <a:spAutoFit/>
          </a:bodyPr>
          <a:lstStyle/>
          <a:p>
            <a:pPr algn="ctr">
              <a:lnSpc>
                <a:spcPct val="115000"/>
              </a:lnSpc>
            </a:pPr>
            <a:r>
              <a:rPr sz="1400" b="1" i="0">
                <a:solidFill>
                  <a:srgbClr val="FFFFFF"/>
                </a:solidFill>
                <a:latin typeface="Calibri"/>
              </a:rPr>
              <a:t>AUTH</a:t>
            </a:r>
          </a:p>
        </p:txBody>
      </p:sp>
      <p:sp>
        <p:nvSpPr>
          <p:cNvPr id="8" name="Rectangle 7"/>
          <p:cNvSpPr/>
          <p:nvPr/>
        </p:nvSpPr>
        <p:spPr>
          <a:xfrm>
            <a:off x="2468880" y="2103120"/>
            <a:ext cx="1783080"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2103120"/>
            <a:ext cx="1783080" cy="822960"/>
          </a:xfrm>
          <a:prstGeom prst="rect">
            <a:avLst/>
          </a:prstGeom>
          <a:noFill/>
        </p:spPr>
        <p:txBody>
          <a:bodyPr wrap="square" anchor="ctr">
            <a:spAutoFit/>
          </a:bodyPr>
          <a:lstStyle/>
          <a:p>
            <a:pPr algn="ctr">
              <a:lnSpc>
                <a:spcPct val="115000"/>
              </a:lnSpc>
            </a:pPr>
            <a:r>
              <a:rPr sz="1400" b="1" i="0">
                <a:solidFill>
                  <a:srgbClr val="FFFFFF"/>
                </a:solidFill>
                <a:latin typeface="Calibri"/>
              </a:rPr>
              <a:t>USERS</a:t>
            </a:r>
          </a:p>
        </p:txBody>
      </p:sp>
      <p:sp>
        <p:nvSpPr>
          <p:cNvPr id="10" name="Rectangle 9"/>
          <p:cNvSpPr/>
          <p:nvPr/>
        </p:nvSpPr>
        <p:spPr>
          <a:xfrm>
            <a:off x="4389120" y="2103120"/>
            <a:ext cx="1783080"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2103120"/>
            <a:ext cx="1783080" cy="822960"/>
          </a:xfrm>
          <a:prstGeom prst="rect">
            <a:avLst/>
          </a:prstGeom>
          <a:noFill/>
        </p:spPr>
        <p:txBody>
          <a:bodyPr wrap="square" anchor="ctr">
            <a:spAutoFit/>
          </a:bodyPr>
          <a:lstStyle/>
          <a:p>
            <a:pPr algn="ctr">
              <a:lnSpc>
                <a:spcPct val="115000"/>
              </a:lnSpc>
            </a:pPr>
            <a:r>
              <a:rPr sz="1400" b="1" i="0">
                <a:solidFill>
                  <a:srgbClr val="FFFFFF"/>
                </a:solidFill>
                <a:latin typeface="Calibri"/>
              </a:rPr>
              <a:t>PREDICTIONS</a:t>
            </a:r>
          </a:p>
        </p:txBody>
      </p:sp>
      <p:sp>
        <p:nvSpPr>
          <p:cNvPr id="12" name="Rectangle 11"/>
          <p:cNvSpPr/>
          <p:nvPr/>
        </p:nvSpPr>
        <p:spPr>
          <a:xfrm>
            <a:off x="6309360" y="2103120"/>
            <a:ext cx="1783080"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103120"/>
            <a:ext cx="1783080" cy="822960"/>
          </a:xfrm>
          <a:prstGeom prst="rect">
            <a:avLst/>
          </a:prstGeom>
          <a:noFill/>
        </p:spPr>
        <p:txBody>
          <a:bodyPr wrap="square" anchor="ctr">
            <a:spAutoFit/>
          </a:bodyPr>
          <a:lstStyle/>
          <a:p>
            <a:pPr algn="ctr">
              <a:lnSpc>
                <a:spcPct val="115000"/>
              </a:lnSpc>
            </a:pPr>
            <a:r>
              <a:rPr sz="1400" b="1" i="0">
                <a:solidFill>
                  <a:srgbClr val="FFFFFF"/>
                </a:solidFill>
                <a:latin typeface="Calibri"/>
              </a:rPr>
              <a:t>HISTORY</a:t>
            </a:r>
          </a:p>
        </p:txBody>
      </p:sp>
      <p:sp>
        <p:nvSpPr>
          <p:cNvPr id="14" name="Rectangle 13"/>
          <p:cNvSpPr/>
          <p:nvPr/>
        </p:nvSpPr>
        <p:spPr>
          <a:xfrm>
            <a:off x="8229600" y="2103120"/>
            <a:ext cx="1783080"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103120"/>
            <a:ext cx="1783080" cy="822960"/>
          </a:xfrm>
          <a:prstGeom prst="rect">
            <a:avLst/>
          </a:prstGeom>
          <a:noFill/>
        </p:spPr>
        <p:txBody>
          <a:bodyPr wrap="square" anchor="ctr">
            <a:spAutoFit/>
          </a:bodyPr>
          <a:lstStyle/>
          <a:p>
            <a:pPr algn="ctr">
              <a:lnSpc>
                <a:spcPct val="115000"/>
              </a:lnSpc>
            </a:pPr>
            <a:r>
              <a:rPr sz="1400" b="1" i="0">
                <a:solidFill>
                  <a:srgbClr val="FFFFFF"/>
                </a:solidFill>
                <a:latin typeface="Calibri"/>
              </a:rPr>
              <a:t>DASHBOARD</a:t>
            </a:r>
          </a:p>
        </p:txBody>
      </p:sp>
      <p:sp>
        <p:nvSpPr>
          <p:cNvPr id="16" name="Rectangle 15"/>
          <p:cNvSpPr/>
          <p:nvPr/>
        </p:nvSpPr>
        <p:spPr>
          <a:xfrm>
            <a:off x="10149840" y="2103120"/>
            <a:ext cx="1783080"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0" y="2103120"/>
            <a:ext cx="1783080" cy="822960"/>
          </a:xfrm>
          <a:prstGeom prst="rect">
            <a:avLst/>
          </a:prstGeom>
          <a:noFill/>
        </p:spPr>
        <p:txBody>
          <a:bodyPr wrap="square" anchor="ctr">
            <a:spAutoFit/>
          </a:bodyPr>
          <a:lstStyle/>
          <a:p>
            <a:pPr algn="ctr">
              <a:lnSpc>
                <a:spcPct val="115000"/>
              </a:lnSpc>
            </a:pPr>
            <a:r>
              <a:rPr sz="1400" b="1" i="0">
                <a:solidFill>
                  <a:srgbClr val="FFFFFF"/>
                </a:solidFill>
                <a:latin typeface="Calibri"/>
              </a:rPr>
              <a:t>REPORTS</a:t>
            </a:r>
          </a:p>
        </p:txBody>
      </p:sp>
      <p:sp>
        <p:nvSpPr>
          <p:cNvPr id="18" name="TextBox 17"/>
          <p:cNvSpPr txBox="1"/>
          <p:nvPr/>
        </p:nvSpPr>
        <p:spPr>
          <a:xfrm>
            <a:off x="548640" y="3291840"/>
            <a:ext cx="10972800" cy="2926080"/>
          </a:xfrm>
          <a:prstGeom prst="rect">
            <a:avLst/>
          </a:prstGeom>
          <a:noFill/>
        </p:spPr>
        <p:txBody>
          <a:bodyPr wrap="square">
            <a:spAutoFit/>
          </a:bodyPr>
          <a:lstStyle/>
          <a:p>
            <a:pPr>
              <a:spcAft>
                <a:spcPts val="1400"/>
              </a:spcAft>
            </a:pPr>
            <a:r>
              <a:rPr sz="1700">
                <a:solidFill>
                  <a:srgbClr val="1A1A1A"/>
                </a:solidFill>
                <a:latin typeface="Calibri"/>
              </a:rPr>
              <a:t>•  Authentification JWT (HS256), mots de passe hachés (bcrypt)</a:t>
            </a:r>
          </a:p>
          <a:p>
            <a:pPr>
              <a:spcAft>
                <a:spcPts val="1400"/>
              </a:spcAft>
            </a:pPr>
            <a:r>
              <a:rPr sz="1700">
                <a:solidFill>
                  <a:srgbClr val="1A1A1A"/>
                </a:solidFill>
                <a:latin typeface="Calibri"/>
              </a:rPr>
              <a:t>•  Validation des données via Pydantic (schemas)</a:t>
            </a:r>
          </a:p>
          <a:p>
            <a:pPr>
              <a:spcAft>
                <a:spcPts val="1400"/>
              </a:spcAft>
            </a:pPr>
            <a:r>
              <a:rPr sz="1700">
                <a:solidFill>
                  <a:srgbClr val="1A1A1A"/>
                </a:solidFill>
                <a:latin typeface="Calibri"/>
              </a:rPr>
              <a:t>•  Documentation interactive générée automatiquement (Swagger / ReDoc)</a:t>
            </a:r>
          </a:p>
          <a:p>
            <a:pPr>
              <a:spcAft>
                <a:spcPts val="1400"/>
              </a:spcAft>
            </a:pPr>
            <a:r>
              <a:rPr sz="1700">
                <a:solidFill>
                  <a:srgbClr val="1A1A1A"/>
                </a:solidFill>
                <a:latin typeface="Calibri"/>
              </a:rPr>
              <a:t>•  Modèle MobileNetV2 chargé une seule fois au démarrage du serveur</a:t>
            </a:r>
          </a:p>
        </p:txBody>
      </p:sp>
      <p:sp>
        <p:nvSpPr>
          <p:cNvPr id="19" name="TextBox 18"/>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20" name="TextBox 19"/>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Base de données et sécurité</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13</a:t>
            </a:r>
          </a:p>
        </p:txBody>
      </p:sp>
      <p:pic>
        <p:nvPicPr>
          <p:cNvPr id="5" name="Picture 4" descr="figure_04_bdd_erd.png"/>
          <p:cNvPicPr>
            <a:picLocks noChangeAspect="1"/>
          </p:cNvPicPr>
          <p:nvPr/>
        </p:nvPicPr>
        <p:blipFill>
          <a:blip r:embed="rId2"/>
          <a:stretch>
            <a:fillRect/>
          </a:stretch>
        </p:blipFill>
        <p:spPr>
          <a:xfrm>
            <a:off x="274320" y="1949775"/>
            <a:ext cx="5852160" cy="3872849"/>
          </a:xfrm>
          <a:prstGeom prst="rect">
            <a:avLst/>
          </a:prstGeom>
        </p:spPr>
      </p:pic>
      <p:pic>
        <p:nvPicPr>
          <p:cNvPr id="6" name="Picture 5" descr="figure_13_securite_jwt.png"/>
          <p:cNvPicPr>
            <a:picLocks noChangeAspect="1"/>
          </p:cNvPicPr>
          <p:nvPr/>
        </p:nvPicPr>
        <p:blipFill>
          <a:blip r:embed="rId3"/>
          <a:stretch>
            <a:fillRect/>
          </a:stretch>
        </p:blipFill>
        <p:spPr>
          <a:xfrm>
            <a:off x="7259868" y="1280160"/>
            <a:ext cx="3676824" cy="5212080"/>
          </a:xfrm>
          <a:prstGeom prst="rect">
            <a:avLst/>
          </a:prstGeom>
        </p:spPr>
      </p:pic>
      <p:sp>
        <p:nvSpPr>
          <p:cNvPr id="7" name="TextBox 6"/>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8" name="TextBox 7"/>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Frontend — React</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14</a:t>
            </a:r>
          </a:p>
        </p:txBody>
      </p:sp>
      <p:sp>
        <p:nvSpPr>
          <p:cNvPr id="5" name="TextBox 4"/>
          <p:cNvSpPr txBox="1"/>
          <p:nvPr/>
        </p:nvSpPr>
        <p:spPr>
          <a:xfrm>
            <a:off x="548640" y="1463040"/>
            <a:ext cx="5486400" cy="4572000"/>
          </a:xfrm>
          <a:prstGeom prst="rect">
            <a:avLst/>
          </a:prstGeom>
          <a:noFill/>
        </p:spPr>
        <p:txBody>
          <a:bodyPr wrap="square">
            <a:spAutoFit/>
          </a:bodyPr>
          <a:lstStyle/>
          <a:p>
            <a:pPr>
              <a:spcAft>
                <a:spcPts val="1400"/>
              </a:spcAft>
            </a:pPr>
            <a:r>
              <a:rPr sz="1800">
                <a:solidFill>
                  <a:srgbClr val="1A1A1A"/>
                </a:solidFill>
                <a:latin typeface="Calibri"/>
              </a:rPr>
              <a:t>•  Login / Register</a:t>
            </a:r>
          </a:p>
          <a:p>
            <a:pPr>
              <a:spcAft>
                <a:spcPts val="1400"/>
              </a:spcAft>
            </a:pPr>
            <a:r>
              <a:rPr sz="1800">
                <a:solidFill>
                  <a:srgbClr val="1A1A1A"/>
                </a:solidFill>
                <a:latin typeface="Calibri"/>
              </a:rPr>
              <a:t>•  Dashboard (statistiques, graphiques)</a:t>
            </a:r>
          </a:p>
          <a:p>
            <a:pPr>
              <a:spcAft>
                <a:spcPts val="1400"/>
              </a:spcAft>
            </a:pPr>
            <a:r>
              <a:rPr sz="1800">
                <a:solidFill>
                  <a:srgbClr val="1A1A1A"/>
                </a:solidFill>
                <a:latin typeface="Calibri"/>
              </a:rPr>
              <a:t>•  Prediction (upload, résultat)</a:t>
            </a:r>
          </a:p>
          <a:p>
            <a:pPr>
              <a:spcAft>
                <a:spcPts val="1400"/>
              </a:spcAft>
            </a:pPr>
            <a:r>
              <a:rPr sz="1800">
                <a:solidFill>
                  <a:srgbClr val="1A1A1A"/>
                </a:solidFill>
                <a:latin typeface="Calibri"/>
              </a:rPr>
              <a:t>•  History (recherche, filtres, tri, pagination)</a:t>
            </a:r>
          </a:p>
          <a:p>
            <a:pPr>
              <a:spcAft>
                <a:spcPts val="1400"/>
              </a:spcAft>
            </a:pPr>
            <a:r>
              <a:rPr sz="1800">
                <a:solidFill>
                  <a:srgbClr val="1A1A1A"/>
                </a:solidFill>
                <a:latin typeface="Calibri"/>
              </a:rPr>
              <a:t>•  Profile (édition, mot de passe, suppression de compte)</a:t>
            </a:r>
          </a:p>
          <a:p>
            <a:pPr>
              <a:spcAft>
                <a:spcPts val="1400"/>
              </a:spcAft>
            </a:pPr>
            <a:r>
              <a:rPr sz="1800">
                <a:solidFill>
                  <a:srgbClr val="1A1A1A"/>
                </a:solidFill>
                <a:latin typeface="Calibri"/>
              </a:rPr>
              <a:t>•  Téléchargement PDF, export CSV</a:t>
            </a:r>
          </a:p>
          <a:p>
            <a:pPr>
              <a:spcAft>
                <a:spcPts val="1400"/>
              </a:spcAft>
            </a:pPr>
            <a:r>
              <a:rPr sz="1800">
                <a:solidFill>
                  <a:srgbClr val="1A1A1A"/>
                </a:solidFill>
                <a:latin typeface="Calibri"/>
              </a:rPr>
              <a:t>•  Notifications, Dark mode</a:t>
            </a:r>
          </a:p>
        </p:txBody>
      </p:sp>
      <p:sp>
        <p:nvSpPr>
          <p:cNvPr id="6" name="Rectangle 5"/>
          <p:cNvSpPr/>
          <p:nvPr/>
        </p:nvSpPr>
        <p:spPr>
          <a:xfrm>
            <a:off x="6400800" y="1463040"/>
            <a:ext cx="5212080" cy="4572000"/>
          </a:xfrm>
          <a:prstGeom prst="rect">
            <a:avLst/>
          </a:prstGeom>
          <a:solidFill>
            <a:srgbClr val="F2F2F2"/>
          </a:solidFill>
          <a:ln w="9525">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3383280"/>
            <a:ext cx="4846320" cy="731520"/>
          </a:xfrm>
          <a:prstGeom prst="rect">
            <a:avLst/>
          </a:prstGeom>
          <a:noFill/>
        </p:spPr>
        <p:txBody>
          <a:bodyPr wrap="square" anchor="t">
            <a:spAutoFit/>
          </a:bodyPr>
          <a:lstStyle/>
          <a:p>
            <a:pPr algn="ctr">
              <a:lnSpc>
                <a:spcPct val="115000"/>
              </a:lnSpc>
            </a:pPr>
            <a:r>
              <a:rPr sz="1500" b="0" i="1">
                <a:solidFill>
                  <a:srgbClr val="555555"/>
                </a:solidFill>
                <a:latin typeface="Calibri"/>
              </a:rPr>
              <a:t>[CAPTURE À AJOUTER]</a:t>
            </a:r>
          </a:p>
          <a:p>
            <a:pPr algn="ctr">
              <a:lnSpc>
                <a:spcPct val="115000"/>
              </a:lnSpc>
            </a:pPr>
            <a:r>
              <a:rPr sz="1500" b="0" i="1">
                <a:solidFill>
                  <a:srgbClr val="555555"/>
                </a:solidFill>
                <a:latin typeface="Calibri"/>
              </a:rPr>
              <a:t>(vérification visuelle non réalisée à ce jour)</a:t>
            </a:r>
          </a:p>
        </p:txBody>
      </p:sp>
      <p:sp>
        <p:nvSpPr>
          <p:cNvPr id="8" name="TextBox 7"/>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9" name="TextBox 8"/>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Dashboard et historique</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15</a:t>
            </a:r>
          </a:p>
        </p:txBody>
      </p:sp>
      <p:pic>
        <p:nvPicPr>
          <p:cNvPr id="5" name="Picture 4" descr="figure_14_dashboard.png"/>
          <p:cNvPicPr>
            <a:picLocks noChangeAspect="1"/>
          </p:cNvPicPr>
          <p:nvPr/>
        </p:nvPicPr>
        <p:blipFill>
          <a:blip r:embed="rId2"/>
          <a:stretch>
            <a:fillRect/>
          </a:stretch>
        </p:blipFill>
        <p:spPr>
          <a:xfrm>
            <a:off x="719880" y="1280160"/>
            <a:ext cx="4412399" cy="5212080"/>
          </a:xfrm>
          <a:prstGeom prst="rect">
            <a:avLst/>
          </a:prstGeom>
        </p:spPr>
      </p:pic>
      <p:sp>
        <p:nvSpPr>
          <p:cNvPr id="6" name="TextBox 5"/>
          <p:cNvSpPr txBox="1"/>
          <p:nvPr/>
        </p:nvSpPr>
        <p:spPr>
          <a:xfrm>
            <a:off x="5760720" y="1554480"/>
            <a:ext cx="6035040" cy="2194560"/>
          </a:xfrm>
          <a:prstGeom prst="rect">
            <a:avLst/>
          </a:prstGeom>
          <a:noFill/>
        </p:spPr>
        <p:txBody>
          <a:bodyPr wrap="square">
            <a:spAutoFit/>
          </a:bodyPr>
          <a:lstStyle/>
          <a:p>
            <a:pPr>
              <a:spcAft>
                <a:spcPts val="1000"/>
              </a:spcAft>
            </a:pPr>
            <a:r>
              <a:rPr sz="1700">
                <a:solidFill>
                  <a:srgbClr val="1A1A1A"/>
                </a:solidFill>
                <a:latin typeface="Calibri"/>
              </a:rPr>
              <a:t>•  Dashboard : total, répartition par classe, confiance moyenne, graphiques, évolution, galerie</a:t>
            </a:r>
          </a:p>
        </p:txBody>
      </p:sp>
      <p:sp>
        <p:nvSpPr>
          <p:cNvPr id="7" name="TextBox 6"/>
          <p:cNvSpPr txBox="1"/>
          <p:nvPr/>
        </p:nvSpPr>
        <p:spPr>
          <a:xfrm>
            <a:off x="5760720" y="2926080"/>
            <a:ext cx="6035040" cy="2743200"/>
          </a:xfrm>
          <a:prstGeom prst="rect">
            <a:avLst/>
          </a:prstGeom>
          <a:noFill/>
        </p:spPr>
        <p:txBody>
          <a:bodyPr wrap="square">
            <a:spAutoFit/>
          </a:bodyPr>
          <a:lstStyle/>
          <a:p>
            <a:pPr>
              <a:spcAft>
                <a:spcPts val="1000"/>
              </a:spcAft>
            </a:pPr>
            <a:r>
              <a:rPr sz="1700">
                <a:solidFill>
                  <a:srgbClr val="1A1A1A"/>
                </a:solidFill>
                <a:latin typeface="Calibri"/>
              </a:rPr>
              <a:t>•  History : recherche, filtres, tri, pagination</a:t>
            </a:r>
          </a:p>
          <a:p>
            <a:pPr>
              <a:spcAft>
                <a:spcPts val="1000"/>
              </a:spcAft>
            </a:pPr>
            <a:r>
              <a:rPr sz="1700">
                <a:solidFill>
                  <a:srgbClr val="1A1A1A"/>
                </a:solidFill>
                <a:latin typeface="Calibri"/>
              </a:rPr>
              <a:t>•  Détail d'une inspection, suppression</a:t>
            </a:r>
          </a:p>
          <a:p>
            <a:pPr>
              <a:spcAft>
                <a:spcPts val="1000"/>
              </a:spcAft>
            </a:pPr>
            <a:r>
              <a:rPr sz="1700">
                <a:solidFill>
                  <a:srgbClr val="1A1A1A"/>
                </a:solidFill>
                <a:latin typeface="Calibri"/>
              </a:rPr>
              <a:t>•  Téléchargement PDF depuis l'historique</a:t>
            </a:r>
          </a:p>
        </p:txBody>
      </p:sp>
      <p:sp>
        <p:nvSpPr>
          <p:cNvPr id="8" name="TextBox 7"/>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9" name="TextBox 8"/>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Rapports et exports</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16</a:t>
            </a:r>
          </a:p>
        </p:txBody>
      </p:sp>
      <p:sp>
        <p:nvSpPr>
          <p:cNvPr id="5" name="Rectangle 4"/>
          <p:cNvSpPr/>
          <p:nvPr/>
        </p:nvSpPr>
        <p:spPr>
          <a:xfrm>
            <a:off x="548640" y="1463040"/>
            <a:ext cx="5303520" cy="4297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4754880" cy="457200"/>
          </a:xfrm>
          <a:prstGeom prst="rect">
            <a:avLst/>
          </a:prstGeom>
          <a:noFill/>
        </p:spPr>
        <p:txBody>
          <a:bodyPr wrap="square" anchor="t">
            <a:spAutoFit/>
          </a:bodyPr>
          <a:lstStyle/>
          <a:p>
            <a:pPr algn="l">
              <a:lnSpc>
                <a:spcPct val="115000"/>
              </a:lnSpc>
            </a:pPr>
            <a:r>
              <a:rPr sz="2000" b="1" i="0">
                <a:solidFill>
                  <a:srgbClr val="2E5A88"/>
                </a:solidFill>
                <a:latin typeface="Calibri"/>
              </a:rPr>
              <a:t>PDF</a:t>
            </a:r>
          </a:p>
        </p:txBody>
      </p:sp>
      <p:sp>
        <p:nvSpPr>
          <p:cNvPr id="7" name="TextBox 6"/>
          <p:cNvSpPr txBox="1"/>
          <p:nvPr/>
        </p:nvSpPr>
        <p:spPr>
          <a:xfrm>
            <a:off x="822960" y="2194560"/>
            <a:ext cx="4754880" cy="3383280"/>
          </a:xfrm>
          <a:prstGeom prst="rect">
            <a:avLst/>
          </a:prstGeom>
          <a:noFill/>
        </p:spPr>
        <p:txBody>
          <a:bodyPr wrap="square">
            <a:spAutoFit/>
          </a:bodyPr>
          <a:lstStyle/>
          <a:p>
            <a:pPr>
              <a:spcAft>
                <a:spcPts val="1400"/>
              </a:spcAft>
            </a:pPr>
            <a:r>
              <a:rPr sz="1500">
                <a:solidFill>
                  <a:srgbClr val="1A1A1A"/>
                </a:solidFill>
                <a:latin typeface="Calibri"/>
              </a:rPr>
              <a:t>•  Généré en mémoire (ReportLab), aucun fichier temporaire</a:t>
            </a:r>
          </a:p>
          <a:p>
            <a:pPr>
              <a:spcAft>
                <a:spcPts val="1400"/>
              </a:spcAft>
            </a:pPr>
            <a:r>
              <a:rPr sz="1500">
                <a:solidFill>
                  <a:srgbClr val="1A1A1A"/>
                </a:solidFill>
                <a:latin typeface="Calibri"/>
              </a:rPr>
              <a:t>•  Contient : utilisateur, inspection, date, classe, confiance, image</a:t>
            </a:r>
          </a:p>
          <a:p>
            <a:pPr>
              <a:spcAft>
                <a:spcPts val="1400"/>
              </a:spcAft>
            </a:pPr>
            <a:r>
              <a:rPr sz="1500">
                <a:solidFill>
                  <a:srgbClr val="1A1A1A"/>
                </a:solidFill>
                <a:latin typeface="Calibri"/>
              </a:rPr>
              <a:t>•  Fonctionne même si l'image n'est plus disponible (dégradé propre)</a:t>
            </a:r>
          </a:p>
        </p:txBody>
      </p:sp>
      <p:sp>
        <p:nvSpPr>
          <p:cNvPr id="8" name="Rectangle 7"/>
          <p:cNvSpPr/>
          <p:nvPr/>
        </p:nvSpPr>
        <p:spPr>
          <a:xfrm>
            <a:off x="6309360" y="1463040"/>
            <a:ext cx="5303520" cy="4297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645920"/>
            <a:ext cx="4754880" cy="457200"/>
          </a:xfrm>
          <a:prstGeom prst="rect">
            <a:avLst/>
          </a:prstGeom>
          <a:noFill/>
        </p:spPr>
        <p:txBody>
          <a:bodyPr wrap="square" anchor="t">
            <a:spAutoFit/>
          </a:bodyPr>
          <a:lstStyle/>
          <a:p>
            <a:pPr algn="l">
              <a:lnSpc>
                <a:spcPct val="115000"/>
              </a:lnSpc>
            </a:pPr>
            <a:r>
              <a:rPr sz="2000" b="1" i="0">
                <a:solidFill>
                  <a:srgbClr val="2E5A88"/>
                </a:solidFill>
                <a:latin typeface="Calibri"/>
              </a:rPr>
              <a:t>CSV</a:t>
            </a:r>
          </a:p>
        </p:txBody>
      </p:sp>
      <p:sp>
        <p:nvSpPr>
          <p:cNvPr id="10" name="TextBox 9"/>
          <p:cNvSpPr txBox="1"/>
          <p:nvPr/>
        </p:nvSpPr>
        <p:spPr>
          <a:xfrm>
            <a:off x="6583680" y="2194560"/>
            <a:ext cx="4754880" cy="3383280"/>
          </a:xfrm>
          <a:prstGeom prst="rect">
            <a:avLst/>
          </a:prstGeom>
          <a:noFill/>
        </p:spPr>
        <p:txBody>
          <a:bodyPr wrap="square">
            <a:spAutoFit/>
          </a:bodyPr>
          <a:lstStyle/>
          <a:p>
            <a:pPr>
              <a:spcAft>
                <a:spcPts val="1400"/>
              </a:spcAft>
            </a:pPr>
            <a:r>
              <a:rPr sz="1500">
                <a:solidFill>
                  <a:srgbClr val="1A1A1A"/>
                </a:solidFill>
                <a:latin typeface="Calibri"/>
              </a:rPr>
              <a:t>•  Généré entièrement côté client (Blob), aucun appel réseau dédié</a:t>
            </a:r>
          </a:p>
          <a:p>
            <a:pPr>
              <a:spcAft>
                <a:spcPts val="1400"/>
              </a:spcAft>
            </a:pPr>
            <a:r>
              <a:rPr sz="1500">
                <a:solidFill>
                  <a:srgbClr val="1A1A1A"/>
                </a:solidFill>
                <a:latin typeface="Calibri"/>
              </a:rPr>
              <a:t>•  Colonnes : date, prédiction, confiance, image, utilisateur</a:t>
            </a:r>
          </a:p>
          <a:p>
            <a:pPr>
              <a:spcAft>
                <a:spcPts val="1400"/>
              </a:spcAft>
            </a:pPr>
            <a:r>
              <a:rPr sz="1500">
                <a:solidFill>
                  <a:srgbClr val="1A1A1A"/>
                </a:solidFill>
                <a:latin typeface="Calibri"/>
              </a:rPr>
              <a:t>•  Aucune dépendance supplémentaire nécessaire</a:t>
            </a:r>
          </a:p>
        </p:txBody>
      </p:sp>
      <p:sp>
        <p:nvSpPr>
          <p:cNvPr id="11" name="TextBox 10"/>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12" name="TextBox 11"/>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Déploiement</a:t>
            </a:r>
          </a:p>
        </p:txBody>
      </p:sp>
      <p:sp>
        <p:nvSpPr>
          <p:cNvPr id="4" name="TextBox 3"/>
          <p:cNvSpPr txBox="1"/>
          <p:nvPr/>
        </p:nvSpPr>
        <p:spPr>
          <a:xfrm>
            <a:off x="457200" y="640080"/>
            <a:ext cx="9601200" cy="365760"/>
          </a:xfrm>
          <a:prstGeom prst="rect">
            <a:avLst/>
          </a:prstGeom>
          <a:noFill/>
        </p:spPr>
        <p:txBody>
          <a:bodyPr wrap="square" anchor="ctr">
            <a:spAutoFit/>
          </a:bodyPr>
          <a:lstStyle/>
          <a:p>
            <a:pPr algn="l">
              <a:lnSpc>
                <a:spcPct val="115000"/>
              </a:lnSpc>
            </a:pPr>
            <a:r>
              <a:rPr sz="1300" b="0" i="1">
                <a:solidFill>
                  <a:srgbClr val="DCE6F0"/>
                </a:solidFill>
                <a:latin typeface="Calibri"/>
              </a:rPr>
              <a:t>Railway — en production</a:t>
            </a:r>
          </a:p>
        </p:txBody>
      </p:sp>
      <p:sp>
        <p:nvSpPr>
          <p:cNvPr id="5" name="TextBox 4"/>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17</a:t>
            </a:r>
          </a:p>
        </p:txBody>
      </p:sp>
      <p:pic>
        <p:nvPicPr>
          <p:cNvPr id="6" name="Picture 5" descr="figure_12_deploiement_railway.png"/>
          <p:cNvPicPr>
            <a:picLocks noChangeAspect="1"/>
          </p:cNvPicPr>
          <p:nvPr/>
        </p:nvPicPr>
        <p:blipFill>
          <a:blip r:embed="rId2"/>
          <a:stretch>
            <a:fillRect/>
          </a:stretch>
        </p:blipFill>
        <p:spPr>
          <a:xfrm>
            <a:off x="921500" y="1234440"/>
            <a:ext cx="4374920" cy="5212080"/>
          </a:xfrm>
          <a:prstGeom prst="rect">
            <a:avLst/>
          </a:prstGeom>
        </p:spPr>
      </p:pic>
      <p:sp>
        <p:nvSpPr>
          <p:cNvPr id="7" name="TextBox 6"/>
          <p:cNvSpPr txBox="1"/>
          <p:nvPr/>
        </p:nvSpPr>
        <p:spPr>
          <a:xfrm>
            <a:off x="6217920" y="1463040"/>
            <a:ext cx="5577840" cy="365760"/>
          </a:xfrm>
          <a:prstGeom prst="rect">
            <a:avLst/>
          </a:prstGeom>
          <a:noFill/>
        </p:spPr>
        <p:txBody>
          <a:bodyPr wrap="square" anchor="t">
            <a:spAutoFit/>
          </a:bodyPr>
          <a:lstStyle/>
          <a:p>
            <a:pPr algn="l">
              <a:lnSpc>
                <a:spcPct val="115000"/>
              </a:lnSpc>
            </a:pPr>
            <a:r>
              <a:rPr sz="1600" b="1" i="0">
                <a:solidFill>
                  <a:srgbClr val="2E5A88"/>
                </a:solidFill>
                <a:latin typeface="Calibri"/>
              </a:rPr>
              <a:t>URLs de production :</a:t>
            </a:r>
          </a:p>
        </p:txBody>
      </p:sp>
      <p:sp>
        <p:nvSpPr>
          <p:cNvPr id="8" name="TextBox 7"/>
          <p:cNvSpPr txBox="1"/>
          <p:nvPr/>
        </p:nvSpPr>
        <p:spPr>
          <a:xfrm>
            <a:off x="6217920" y="1920240"/>
            <a:ext cx="5577840" cy="2011680"/>
          </a:xfrm>
          <a:prstGeom prst="rect">
            <a:avLst/>
          </a:prstGeom>
          <a:noFill/>
        </p:spPr>
        <p:txBody>
          <a:bodyPr wrap="square">
            <a:spAutoFit/>
          </a:bodyPr>
          <a:lstStyle/>
          <a:p>
            <a:pPr>
              <a:spcAft>
                <a:spcPts val="1200"/>
              </a:spcAft>
            </a:pPr>
            <a:r>
              <a:rPr sz="1400">
                <a:solidFill>
                  <a:srgbClr val="1A1A1A"/>
                </a:solidFill>
                <a:latin typeface="Calibri"/>
              </a:rPr>
              <a:t>•  Frontend : frontend-production-bcff.up.railway.app</a:t>
            </a:r>
          </a:p>
          <a:p>
            <a:pPr>
              <a:spcAft>
                <a:spcPts val="1200"/>
              </a:spcAft>
            </a:pPr>
            <a:r>
              <a:rPr sz="1400">
                <a:solidFill>
                  <a:srgbClr val="1A1A1A"/>
                </a:solidFill>
                <a:latin typeface="Calibri"/>
              </a:rPr>
              <a:t>•  Backend : visioninspectia-production.up.railway.app</a:t>
            </a:r>
          </a:p>
          <a:p>
            <a:pPr>
              <a:spcAft>
                <a:spcPts val="1200"/>
              </a:spcAft>
            </a:pPr>
            <a:r>
              <a:rPr sz="1400">
                <a:solidFill>
                  <a:srgbClr val="1A1A1A"/>
                </a:solidFill>
                <a:latin typeface="Calibri"/>
              </a:rPr>
              <a:t>•  Swagger : .../docs</a:t>
            </a:r>
          </a:p>
        </p:txBody>
      </p:sp>
      <p:sp>
        <p:nvSpPr>
          <p:cNvPr id="9" name="TextBox 8"/>
          <p:cNvSpPr txBox="1"/>
          <p:nvPr/>
        </p:nvSpPr>
        <p:spPr>
          <a:xfrm>
            <a:off x="6217920" y="3840480"/>
            <a:ext cx="5577840" cy="365760"/>
          </a:xfrm>
          <a:prstGeom prst="rect">
            <a:avLst/>
          </a:prstGeom>
          <a:noFill/>
        </p:spPr>
        <p:txBody>
          <a:bodyPr wrap="square" anchor="t">
            <a:spAutoFit/>
          </a:bodyPr>
          <a:lstStyle/>
          <a:p>
            <a:pPr algn="l">
              <a:lnSpc>
                <a:spcPct val="115000"/>
              </a:lnSpc>
            </a:pPr>
            <a:r>
              <a:rPr sz="1600" b="1" i="0">
                <a:solidFill>
                  <a:srgbClr val="2E5A88"/>
                </a:solidFill>
                <a:latin typeface="Calibri"/>
              </a:rPr>
              <a:t>Pourquoi Railway ?</a:t>
            </a:r>
          </a:p>
        </p:txBody>
      </p:sp>
      <p:sp>
        <p:nvSpPr>
          <p:cNvPr id="10" name="TextBox 9"/>
          <p:cNvSpPr txBox="1"/>
          <p:nvPr/>
        </p:nvSpPr>
        <p:spPr>
          <a:xfrm>
            <a:off x="6217920" y="4297680"/>
            <a:ext cx="5577840" cy="2011680"/>
          </a:xfrm>
          <a:prstGeom prst="rect">
            <a:avLst/>
          </a:prstGeom>
          <a:noFill/>
        </p:spPr>
        <p:txBody>
          <a:bodyPr wrap="square">
            <a:spAutoFit/>
          </a:bodyPr>
          <a:lstStyle/>
          <a:p>
            <a:pPr>
              <a:spcAft>
                <a:spcPts val="1000"/>
              </a:spcAft>
            </a:pPr>
            <a:r>
              <a:rPr sz="1400">
                <a:solidFill>
                  <a:srgbClr val="1A1A1A"/>
                </a:solidFill>
                <a:latin typeface="Calibri"/>
              </a:rPr>
              <a:t>•  Seule plateforme testée avec MySQL managé natif</a:t>
            </a:r>
          </a:p>
          <a:p>
            <a:pPr>
              <a:spcAft>
                <a:spcPts val="1000"/>
              </a:spcAft>
            </a:pPr>
            <a:r>
              <a:rPr sz="1400">
                <a:solidFill>
                  <a:srgbClr val="1A1A1A"/>
                </a:solidFill>
                <a:latin typeface="Calibri"/>
              </a:rPr>
              <a:t>•  Backend et frontend en Dockerfile explicite (Docker)</a:t>
            </a:r>
          </a:p>
          <a:p>
            <a:pPr>
              <a:spcAft>
                <a:spcPts val="1000"/>
              </a:spcAft>
            </a:pPr>
            <a:r>
              <a:rPr sz="1400">
                <a:solidFill>
                  <a:srgbClr val="1A1A1A"/>
                </a:solidFill>
                <a:latin typeface="Calibri"/>
              </a:rPr>
              <a:t>•  MySQL en réseau privé, non exposé publiquement</a:t>
            </a:r>
          </a:p>
        </p:txBody>
      </p:sp>
      <p:sp>
        <p:nvSpPr>
          <p:cNvPr id="11" name="TextBox 10"/>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12" name="TextBox 11"/>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Tests et validation</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18</a:t>
            </a:r>
          </a:p>
        </p:txBody>
      </p:sp>
      <p:sp>
        <p:nvSpPr>
          <p:cNvPr id="5" name="Rectangle 4"/>
          <p:cNvSpPr/>
          <p:nvPr/>
        </p:nvSpPr>
        <p:spPr>
          <a:xfrm>
            <a:off x="457200" y="1371600"/>
            <a:ext cx="2926080" cy="4572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2743200" cy="457200"/>
          </a:xfrm>
          <a:prstGeom prst="rect">
            <a:avLst/>
          </a:prstGeom>
          <a:noFill/>
        </p:spPr>
        <p:txBody>
          <a:bodyPr wrap="square" anchor="ctr">
            <a:spAutoFit/>
          </a:bodyPr>
          <a:lstStyle/>
          <a:p>
            <a:pPr algn="l">
              <a:lnSpc>
                <a:spcPct val="115000"/>
              </a:lnSpc>
            </a:pPr>
            <a:r>
              <a:rPr sz="1400" b="1" i="0">
                <a:solidFill>
                  <a:srgbClr val="FFFFFF"/>
                </a:solidFill>
                <a:latin typeface="Calibri"/>
              </a:rPr>
              <a:t>Catégorie</a:t>
            </a:r>
          </a:p>
        </p:txBody>
      </p:sp>
      <p:sp>
        <p:nvSpPr>
          <p:cNvPr id="7" name="Rectangle 6"/>
          <p:cNvSpPr/>
          <p:nvPr/>
        </p:nvSpPr>
        <p:spPr>
          <a:xfrm>
            <a:off x="3383280" y="1371600"/>
            <a:ext cx="4480560" cy="4572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371600"/>
            <a:ext cx="4297680" cy="457200"/>
          </a:xfrm>
          <a:prstGeom prst="rect">
            <a:avLst/>
          </a:prstGeom>
          <a:noFill/>
        </p:spPr>
        <p:txBody>
          <a:bodyPr wrap="square" anchor="ctr">
            <a:spAutoFit/>
          </a:bodyPr>
          <a:lstStyle/>
          <a:p>
            <a:pPr algn="l">
              <a:lnSpc>
                <a:spcPct val="115000"/>
              </a:lnSpc>
            </a:pPr>
            <a:r>
              <a:rPr sz="1400" b="1" i="0">
                <a:solidFill>
                  <a:srgbClr val="FFFFFF"/>
                </a:solidFill>
                <a:latin typeface="Calibri"/>
              </a:rPr>
              <a:t>Ce qui a été testé</a:t>
            </a:r>
          </a:p>
        </p:txBody>
      </p:sp>
      <p:sp>
        <p:nvSpPr>
          <p:cNvPr id="9" name="Rectangle 8"/>
          <p:cNvSpPr/>
          <p:nvPr/>
        </p:nvSpPr>
        <p:spPr>
          <a:xfrm>
            <a:off x="7863840" y="1371600"/>
            <a:ext cx="4206240" cy="4572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0" y="1371600"/>
            <a:ext cx="4023360" cy="457200"/>
          </a:xfrm>
          <a:prstGeom prst="rect">
            <a:avLst/>
          </a:prstGeom>
          <a:noFill/>
        </p:spPr>
        <p:txBody>
          <a:bodyPr wrap="square" anchor="ctr">
            <a:spAutoFit/>
          </a:bodyPr>
          <a:lstStyle/>
          <a:p>
            <a:pPr algn="l">
              <a:lnSpc>
                <a:spcPct val="115000"/>
              </a:lnSpc>
            </a:pPr>
            <a:r>
              <a:rPr sz="1400" b="1" i="0">
                <a:solidFill>
                  <a:srgbClr val="FFFFFF"/>
                </a:solidFill>
                <a:latin typeface="Calibri"/>
              </a:rPr>
              <a:t>Résultat</a:t>
            </a:r>
          </a:p>
        </p:txBody>
      </p:sp>
      <p:sp>
        <p:nvSpPr>
          <p:cNvPr id="11" name="Rectangle 10"/>
          <p:cNvSpPr/>
          <p:nvPr/>
        </p:nvSpPr>
        <p:spPr>
          <a:xfrm>
            <a:off x="457200" y="1828800"/>
            <a:ext cx="29260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Backend / MySQL</a:t>
            </a:r>
          </a:p>
        </p:txBody>
      </p:sp>
      <p:sp>
        <p:nvSpPr>
          <p:cNvPr id="13" name="Rectangle 12"/>
          <p:cNvSpPr/>
          <p:nvPr/>
        </p:nvSpPr>
        <p:spPr>
          <a:xfrm>
            <a:off x="3383280" y="1828800"/>
            <a:ext cx="448056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828800"/>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Démarrage, Swagger, ReDoc, contraintes</a:t>
            </a:r>
          </a:p>
        </p:txBody>
      </p:sp>
      <p:sp>
        <p:nvSpPr>
          <p:cNvPr id="15" name="Rectangle 14"/>
          <p:cNvSpPr/>
          <p:nvPr/>
        </p:nvSpPr>
        <p:spPr>
          <a:xfrm>
            <a:off x="7863840" y="1828800"/>
            <a:ext cx="420624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828800"/>
            <a:ext cx="4023360" cy="566928"/>
          </a:xfrm>
          <a:prstGeom prst="rect">
            <a:avLst/>
          </a:prstGeom>
          <a:noFill/>
        </p:spPr>
        <p:txBody>
          <a:bodyPr wrap="square" anchor="ctr">
            <a:spAutoFit/>
          </a:bodyPr>
          <a:lstStyle/>
          <a:p>
            <a:pPr algn="l">
              <a:lnSpc>
                <a:spcPct val="115000"/>
              </a:lnSpc>
            </a:pPr>
            <a:r>
              <a:rPr sz="1250" b="0" i="0">
                <a:solidFill>
                  <a:srgbClr val="1A1A1A"/>
                </a:solidFill>
                <a:latin typeface="Calibri"/>
              </a:rPr>
              <a:t>✅ Vérifié (local + production)</a:t>
            </a:r>
          </a:p>
        </p:txBody>
      </p:sp>
      <p:sp>
        <p:nvSpPr>
          <p:cNvPr id="17" name="Rectangle 16"/>
          <p:cNvSpPr/>
          <p:nvPr/>
        </p:nvSpPr>
        <p:spPr>
          <a:xfrm>
            <a:off x="457200" y="2395728"/>
            <a:ext cx="29260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395728"/>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Authentification</a:t>
            </a:r>
          </a:p>
        </p:txBody>
      </p:sp>
      <p:sp>
        <p:nvSpPr>
          <p:cNvPr id="19" name="Rectangle 18"/>
          <p:cNvSpPr/>
          <p:nvPr/>
        </p:nvSpPr>
        <p:spPr>
          <a:xfrm>
            <a:off x="3383280" y="2395728"/>
            <a:ext cx="4480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395728"/>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Register, login, JWT, erreurs 401</a:t>
            </a:r>
          </a:p>
        </p:txBody>
      </p:sp>
      <p:sp>
        <p:nvSpPr>
          <p:cNvPr id="21" name="Rectangle 20"/>
          <p:cNvSpPr/>
          <p:nvPr/>
        </p:nvSpPr>
        <p:spPr>
          <a:xfrm>
            <a:off x="7863840" y="2395728"/>
            <a:ext cx="420624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0" y="2395728"/>
            <a:ext cx="4023360" cy="566928"/>
          </a:xfrm>
          <a:prstGeom prst="rect">
            <a:avLst/>
          </a:prstGeom>
          <a:noFill/>
        </p:spPr>
        <p:txBody>
          <a:bodyPr wrap="square" anchor="ctr">
            <a:spAutoFit/>
          </a:bodyPr>
          <a:lstStyle/>
          <a:p>
            <a:pPr algn="l">
              <a:lnSpc>
                <a:spcPct val="115000"/>
              </a:lnSpc>
            </a:pPr>
            <a:r>
              <a:rPr sz="1250" b="0" i="0">
                <a:solidFill>
                  <a:srgbClr val="1A1A1A"/>
                </a:solidFill>
                <a:latin typeface="Calibri"/>
              </a:rPr>
              <a:t>✅ Vérifié (local + production)</a:t>
            </a:r>
          </a:p>
        </p:txBody>
      </p:sp>
      <p:sp>
        <p:nvSpPr>
          <p:cNvPr id="23" name="Rectangle 22"/>
          <p:cNvSpPr/>
          <p:nvPr/>
        </p:nvSpPr>
        <p:spPr>
          <a:xfrm>
            <a:off x="457200" y="2962656"/>
            <a:ext cx="29260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962656"/>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Prédiction</a:t>
            </a:r>
          </a:p>
        </p:txBody>
      </p:sp>
      <p:sp>
        <p:nvSpPr>
          <p:cNvPr id="25" name="Rectangle 24"/>
          <p:cNvSpPr/>
          <p:nvPr/>
        </p:nvSpPr>
        <p:spPr>
          <a:xfrm>
            <a:off x="3383280" y="2962656"/>
            <a:ext cx="448056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0" y="2962656"/>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4 classes testées</a:t>
            </a:r>
          </a:p>
        </p:txBody>
      </p:sp>
      <p:sp>
        <p:nvSpPr>
          <p:cNvPr id="27" name="Rectangle 26"/>
          <p:cNvSpPr/>
          <p:nvPr/>
        </p:nvSpPr>
        <p:spPr>
          <a:xfrm>
            <a:off x="7863840" y="2962656"/>
            <a:ext cx="420624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80" y="2962656"/>
            <a:ext cx="4023360" cy="566928"/>
          </a:xfrm>
          <a:prstGeom prst="rect">
            <a:avLst/>
          </a:prstGeom>
          <a:noFill/>
        </p:spPr>
        <p:txBody>
          <a:bodyPr wrap="square" anchor="ctr">
            <a:spAutoFit/>
          </a:bodyPr>
          <a:lstStyle/>
          <a:p>
            <a:pPr algn="l">
              <a:lnSpc>
                <a:spcPct val="115000"/>
              </a:lnSpc>
            </a:pPr>
            <a:r>
              <a:rPr sz="1250" b="0" i="0">
                <a:solidFill>
                  <a:srgbClr val="1A1A1A"/>
                </a:solidFill>
                <a:latin typeface="Calibri"/>
              </a:rPr>
              <a:t>✅ 3/4 correctes (voir limitations)</a:t>
            </a:r>
          </a:p>
        </p:txBody>
      </p:sp>
      <p:sp>
        <p:nvSpPr>
          <p:cNvPr id="29" name="Rectangle 28"/>
          <p:cNvSpPr/>
          <p:nvPr/>
        </p:nvSpPr>
        <p:spPr>
          <a:xfrm>
            <a:off x="457200" y="3529584"/>
            <a:ext cx="29260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529584"/>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History / Dashboard</a:t>
            </a:r>
          </a:p>
        </p:txBody>
      </p:sp>
      <p:sp>
        <p:nvSpPr>
          <p:cNvPr id="31" name="Rectangle 30"/>
          <p:cNvSpPr/>
          <p:nvPr/>
        </p:nvSpPr>
        <p:spPr>
          <a:xfrm>
            <a:off x="3383280" y="3529584"/>
            <a:ext cx="4480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3529584"/>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Cohérence avec MySQL</a:t>
            </a:r>
          </a:p>
        </p:txBody>
      </p:sp>
      <p:sp>
        <p:nvSpPr>
          <p:cNvPr id="33" name="Rectangle 32"/>
          <p:cNvSpPr/>
          <p:nvPr/>
        </p:nvSpPr>
        <p:spPr>
          <a:xfrm>
            <a:off x="7863840" y="3529584"/>
            <a:ext cx="420624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5280" y="3529584"/>
            <a:ext cx="4023360" cy="566928"/>
          </a:xfrm>
          <a:prstGeom prst="rect">
            <a:avLst/>
          </a:prstGeom>
          <a:noFill/>
        </p:spPr>
        <p:txBody>
          <a:bodyPr wrap="square" anchor="ctr">
            <a:spAutoFit/>
          </a:bodyPr>
          <a:lstStyle/>
          <a:p>
            <a:pPr algn="l">
              <a:lnSpc>
                <a:spcPct val="115000"/>
              </a:lnSpc>
            </a:pPr>
            <a:r>
              <a:rPr sz="1250" b="0" i="0">
                <a:solidFill>
                  <a:srgbClr val="1A1A1A"/>
                </a:solidFill>
                <a:latin typeface="Calibri"/>
              </a:rPr>
              <a:t>✅ Vérifié (local + production)</a:t>
            </a:r>
          </a:p>
        </p:txBody>
      </p:sp>
      <p:sp>
        <p:nvSpPr>
          <p:cNvPr id="35" name="Rectangle 34"/>
          <p:cNvSpPr/>
          <p:nvPr/>
        </p:nvSpPr>
        <p:spPr>
          <a:xfrm>
            <a:off x="457200" y="4096512"/>
            <a:ext cx="29260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096512"/>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PDF / CSV</a:t>
            </a:r>
          </a:p>
        </p:txBody>
      </p:sp>
      <p:sp>
        <p:nvSpPr>
          <p:cNvPr id="37" name="Rectangle 36"/>
          <p:cNvSpPr/>
          <p:nvPr/>
        </p:nvSpPr>
        <p:spPr>
          <a:xfrm>
            <a:off x="3383280" y="4096512"/>
            <a:ext cx="448056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0" y="4096512"/>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Génération, contenu</a:t>
            </a:r>
          </a:p>
        </p:txBody>
      </p:sp>
      <p:sp>
        <p:nvSpPr>
          <p:cNvPr id="39" name="Rectangle 38"/>
          <p:cNvSpPr/>
          <p:nvPr/>
        </p:nvSpPr>
        <p:spPr>
          <a:xfrm>
            <a:off x="7863840" y="4096512"/>
            <a:ext cx="420624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0" y="4096512"/>
            <a:ext cx="4023360" cy="566928"/>
          </a:xfrm>
          <a:prstGeom prst="rect">
            <a:avLst/>
          </a:prstGeom>
          <a:noFill/>
        </p:spPr>
        <p:txBody>
          <a:bodyPr wrap="square" anchor="ctr">
            <a:spAutoFit/>
          </a:bodyPr>
          <a:lstStyle/>
          <a:p>
            <a:pPr algn="l">
              <a:lnSpc>
                <a:spcPct val="115000"/>
              </a:lnSpc>
            </a:pPr>
            <a:r>
              <a:rPr sz="1250" b="0" i="0">
                <a:solidFill>
                  <a:srgbClr val="1A1A1A"/>
                </a:solidFill>
                <a:latin typeface="Calibri"/>
              </a:rPr>
              <a:t>✅ Vérifié (local + production)</a:t>
            </a:r>
          </a:p>
        </p:txBody>
      </p:sp>
      <p:sp>
        <p:nvSpPr>
          <p:cNvPr id="41" name="Rectangle 40"/>
          <p:cNvSpPr/>
          <p:nvPr/>
        </p:nvSpPr>
        <p:spPr>
          <a:xfrm>
            <a:off x="457200" y="4663440"/>
            <a:ext cx="29260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663440"/>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Sécurité</a:t>
            </a:r>
          </a:p>
        </p:txBody>
      </p:sp>
      <p:sp>
        <p:nvSpPr>
          <p:cNvPr id="43" name="Rectangle 42"/>
          <p:cNvSpPr/>
          <p:nvPr/>
        </p:nvSpPr>
        <p:spPr>
          <a:xfrm>
            <a:off x="3383280" y="4663440"/>
            <a:ext cx="4480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74720" y="4663440"/>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Isolation entre utilisateurs, fichiers invalides</a:t>
            </a:r>
          </a:p>
        </p:txBody>
      </p:sp>
      <p:sp>
        <p:nvSpPr>
          <p:cNvPr id="45" name="Rectangle 44"/>
          <p:cNvSpPr/>
          <p:nvPr/>
        </p:nvSpPr>
        <p:spPr>
          <a:xfrm>
            <a:off x="7863840" y="4663440"/>
            <a:ext cx="420624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55280" y="4663440"/>
            <a:ext cx="4023360" cy="566928"/>
          </a:xfrm>
          <a:prstGeom prst="rect">
            <a:avLst/>
          </a:prstGeom>
          <a:noFill/>
        </p:spPr>
        <p:txBody>
          <a:bodyPr wrap="square" anchor="ctr">
            <a:spAutoFit/>
          </a:bodyPr>
          <a:lstStyle/>
          <a:p>
            <a:pPr algn="l">
              <a:lnSpc>
                <a:spcPct val="115000"/>
              </a:lnSpc>
            </a:pPr>
            <a:r>
              <a:rPr sz="1250" b="0" i="0">
                <a:solidFill>
                  <a:srgbClr val="1A1A1A"/>
                </a:solidFill>
                <a:latin typeface="Calibri"/>
              </a:rPr>
              <a:t>✅ Vérifié (local + production)</a:t>
            </a:r>
          </a:p>
        </p:txBody>
      </p:sp>
      <p:sp>
        <p:nvSpPr>
          <p:cNvPr id="47" name="Rectangle 46"/>
          <p:cNvSpPr/>
          <p:nvPr/>
        </p:nvSpPr>
        <p:spPr>
          <a:xfrm>
            <a:off x="457200" y="5230368"/>
            <a:ext cx="29260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230368"/>
            <a:ext cx="2743200" cy="566928"/>
          </a:xfrm>
          <a:prstGeom prst="rect">
            <a:avLst/>
          </a:prstGeom>
          <a:noFill/>
        </p:spPr>
        <p:txBody>
          <a:bodyPr wrap="square" anchor="ctr">
            <a:spAutoFit/>
          </a:bodyPr>
          <a:lstStyle/>
          <a:p>
            <a:pPr algn="l">
              <a:lnSpc>
                <a:spcPct val="115000"/>
              </a:lnSpc>
            </a:pPr>
            <a:r>
              <a:rPr sz="1250" b="0" i="0">
                <a:solidFill>
                  <a:srgbClr val="1A1A1A"/>
                </a:solidFill>
                <a:latin typeface="Calibri"/>
              </a:rPr>
              <a:t>Interface visuelle (UI)</a:t>
            </a:r>
          </a:p>
        </p:txBody>
      </p:sp>
      <p:sp>
        <p:nvSpPr>
          <p:cNvPr id="49" name="Rectangle 48"/>
          <p:cNvSpPr/>
          <p:nvPr/>
        </p:nvSpPr>
        <p:spPr>
          <a:xfrm>
            <a:off x="3383280" y="5230368"/>
            <a:ext cx="448056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0" y="5230368"/>
            <a:ext cx="4297680" cy="566928"/>
          </a:xfrm>
          <a:prstGeom prst="rect">
            <a:avLst/>
          </a:prstGeom>
          <a:noFill/>
        </p:spPr>
        <p:txBody>
          <a:bodyPr wrap="square" anchor="ctr">
            <a:spAutoFit/>
          </a:bodyPr>
          <a:lstStyle/>
          <a:p>
            <a:pPr algn="l">
              <a:lnSpc>
                <a:spcPct val="115000"/>
              </a:lnSpc>
            </a:pPr>
            <a:r>
              <a:rPr sz="1250" b="0" i="0">
                <a:solidFill>
                  <a:srgbClr val="1A1A1A"/>
                </a:solidFill>
                <a:latin typeface="Calibri"/>
              </a:rPr>
              <a:t>Rendu réel, dark mode, responsive</a:t>
            </a:r>
          </a:p>
        </p:txBody>
      </p:sp>
      <p:sp>
        <p:nvSpPr>
          <p:cNvPr id="51" name="Rectangle 50"/>
          <p:cNvSpPr/>
          <p:nvPr/>
        </p:nvSpPr>
        <p:spPr>
          <a:xfrm>
            <a:off x="7863840" y="5230368"/>
            <a:ext cx="420624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55280" y="5230368"/>
            <a:ext cx="4023360" cy="566928"/>
          </a:xfrm>
          <a:prstGeom prst="rect">
            <a:avLst/>
          </a:prstGeom>
          <a:noFill/>
        </p:spPr>
        <p:txBody>
          <a:bodyPr wrap="square" anchor="ctr">
            <a:spAutoFit/>
          </a:bodyPr>
          <a:lstStyle/>
          <a:p>
            <a:pPr algn="l">
              <a:lnSpc>
                <a:spcPct val="115000"/>
              </a:lnSpc>
            </a:pPr>
            <a:r>
              <a:rPr sz="1250" b="0" i="0">
                <a:solidFill>
                  <a:srgbClr val="B33A3A"/>
                </a:solidFill>
                <a:latin typeface="Calibri"/>
              </a:rPr>
              <a:t>❌ Non vérifié (pas de navigateur)</a:t>
            </a:r>
          </a:p>
        </p:txBody>
      </p:sp>
      <p:sp>
        <p:nvSpPr>
          <p:cNvPr id="53" name="TextBox 52"/>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54" name="TextBox 53"/>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Limitations</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19</a:t>
            </a:r>
          </a:p>
        </p:txBody>
      </p:sp>
      <p:sp>
        <p:nvSpPr>
          <p:cNvPr id="5" name="TextBox 4"/>
          <p:cNvSpPr txBox="1"/>
          <p:nvPr/>
        </p:nvSpPr>
        <p:spPr>
          <a:xfrm>
            <a:off x="640080" y="1463040"/>
            <a:ext cx="10789920" cy="4572000"/>
          </a:xfrm>
          <a:prstGeom prst="rect">
            <a:avLst/>
          </a:prstGeom>
          <a:noFill/>
        </p:spPr>
        <p:txBody>
          <a:bodyPr wrap="square">
            <a:spAutoFit/>
          </a:bodyPr>
          <a:lstStyle/>
          <a:p>
            <a:pPr>
              <a:spcAft>
                <a:spcPts val="1800"/>
              </a:spcAft>
            </a:pPr>
            <a:r>
              <a:rPr sz="1900">
                <a:solidFill>
                  <a:srgbClr val="1A1A1A"/>
                </a:solidFill>
                <a:latin typeface="Calibri"/>
              </a:rPr>
              <a:t>•  broken_small : rappel de 0.50 sur le jeu de test, confondu avec broken_large (confirmé en production)</a:t>
            </a:r>
          </a:p>
          <a:p>
            <a:pPr>
              <a:spcAft>
                <a:spcPts val="1800"/>
              </a:spcAft>
            </a:pPr>
            <a:r>
              <a:rPr sz="1900">
                <a:solidFill>
                  <a:srgbClr val="1A1A1A"/>
                </a:solidFill>
                <a:latin typeface="Calibri"/>
              </a:rPr>
              <a:t>•  Domain shift : la généralisation à des images hors du dataset MVTec AD n'a pas été évaluée</a:t>
            </a:r>
          </a:p>
          <a:p>
            <a:pPr>
              <a:spcAft>
                <a:spcPts val="1800"/>
              </a:spcAft>
            </a:pPr>
            <a:r>
              <a:rPr sz="1900">
                <a:solidFill>
                  <a:srgbClr val="1A1A1A"/>
                </a:solidFill>
                <a:latin typeface="Calibri"/>
              </a:rPr>
              <a:t>•  Dataset limité : 20 à 22 images réelles par classe de défaut</a:t>
            </a:r>
          </a:p>
          <a:p>
            <a:pPr>
              <a:spcAft>
                <a:spcPts val="1800"/>
              </a:spcAft>
            </a:pPr>
            <a:r>
              <a:rPr sz="1900">
                <a:solidFill>
                  <a:srgbClr val="1A1A1A"/>
                </a:solidFill>
                <a:latin typeface="Calibri"/>
              </a:rPr>
              <a:t>•  Stockage des images uploadées non persistant sur Railway (perdu au redéploiement)</a:t>
            </a:r>
          </a:p>
          <a:p>
            <a:pPr>
              <a:spcAft>
                <a:spcPts val="1800"/>
              </a:spcAft>
            </a:pPr>
            <a:r>
              <a:rPr sz="1900">
                <a:solidFill>
                  <a:srgbClr val="1A1A1A"/>
                </a:solidFill>
                <a:latin typeface="Calibri"/>
              </a:rPr>
              <a:t>•  Cold start TensorFlow au premier appel après démarrage (~2 secondes)</a:t>
            </a:r>
          </a:p>
          <a:p>
            <a:pPr>
              <a:spcAft>
                <a:spcPts val="1800"/>
              </a:spcAft>
            </a:pPr>
            <a:r>
              <a:rPr sz="1900">
                <a:solidFill>
                  <a:srgbClr val="1A1A1A"/>
                </a:solidFill>
                <a:latin typeface="Calibri"/>
              </a:rPr>
              <a:t>•  Interface jamais vérifiée dans un navigateur réel (dark mode, responsive)</a:t>
            </a:r>
          </a:p>
        </p:txBody>
      </p:sp>
      <p:sp>
        <p:nvSpPr>
          <p:cNvPr id="6" name="TextBox 5"/>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7" name="TextBox 6"/>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Démonstration</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20</a:t>
            </a:r>
          </a:p>
        </p:txBody>
      </p:sp>
      <p:sp>
        <p:nvSpPr>
          <p:cNvPr id="5" name="Rectangle 4"/>
          <p:cNvSpPr/>
          <p:nvPr/>
        </p:nvSpPr>
        <p:spPr>
          <a:xfrm>
            <a:off x="548640" y="14630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1. Login</a:t>
            </a:r>
          </a:p>
        </p:txBody>
      </p:sp>
      <p:sp>
        <p:nvSpPr>
          <p:cNvPr id="7" name="Rectangle 6"/>
          <p:cNvSpPr/>
          <p:nvPr/>
        </p:nvSpPr>
        <p:spPr>
          <a:xfrm>
            <a:off x="3337560" y="14630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4630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2. Dashboard</a:t>
            </a:r>
          </a:p>
        </p:txBody>
      </p:sp>
      <p:sp>
        <p:nvSpPr>
          <p:cNvPr id="9" name="Rectangle 8"/>
          <p:cNvSpPr/>
          <p:nvPr/>
        </p:nvSpPr>
        <p:spPr>
          <a:xfrm>
            <a:off x="6126480" y="14630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4630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3. Upload</a:t>
            </a:r>
          </a:p>
        </p:txBody>
      </p:sp>
      <p:sp>
        <p:nvSpPr>
          <p:cNvPr id="11" name="Rectangle 10"/>
          <p:cNvSpPr/>
          <p:nvPr/>
        </p:nvSpPr>
        <p:spPr>
          <a:xfrm>
            <a:off x="8915400" y="14630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14630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4. Prediction</a:t>
            </a:r>
          </a:p>
        </p:txBody>
      </p:sp>
      <p:sp>
        <p:nvSpPr>
          <p:cNvPr id="13" name="Rectangle 12"/>
          <p:cNvSpPr/>
          <p:nvPr/>
        </p:nvSpPr>
        <p:spPr>
          <a:xfrm>
            <a:off x="548640" y="23774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774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5. History</a:t>
            </a:r>
          </a:p>
        </p:txBody>
      </p:sp>
      <p:sp>
        <p:nvSpPr>
          <p:cNvPr id="15" name="Rectangle 14"/>
          <p:cNvSpPr/>
          <p:nvPr/>
        </p:nvSpPr>
        <p:spPr>
          <a:xfrm>
            <a:off x="3337560" y="23774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23774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6. Details</a:t>
            </a:r>
          </a:p>
        </p:txBody>
      </p:sp>
      <p:sp>
        <p:nvSpPr>
          <p:cNvPr id="17" name="Rectangle 16"/>
          <p:cNvSpPr/>
          <p:nvPr/>
        </p:nvSpPr>
        <p:spPr>
          <a:xfrm>
            <a:off x="6126480" y="23774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23774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7. PDF</a:t>
            </a:r>
          </a:p>
        </p:txBody>
      </p:sp>
      <p:sp>
        <p:nvSpPr>
          <p:cNvPr id="19" name="Rectangle 18"/>
          <p:cNvSpPr/>
          <p:nvPr/>
        </p:nvSpPr>
        <p:spPr>
          <a:xfrm>
            <a:off x="8915400" y="23774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5400" y="23774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8. CSV</a:t>
            </a:r>
          </a:p>
        </p:txBody>
      </p:sp>
      <p:sp>
        <p:nvSpPr>
          <p:cNvPr id="21" name="Rectangle 20"/>
          <p:cNvSpPr/>
          <p:nvPr/>
        </p:nvSpPr>
        <p:spPr>
          <a:xfrm>
            <a:off x="548640" y="32918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918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9. Profile</a:t>
            </a:r>
          </a:p>
        </p:txBody>
      </p:sp>
      <p:sp>
        <p:nvSpPr>
          <p:cNvPr id="23" name="Rectangle 22"/>
          <p:cNvSpPr/>
          <p:nvPr/>
        </p:nvSpPr>
        <p:spPr>
          <a:xfrm>
            <a:off x="3337560" y="32918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32918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10. Dark mode</a:t>
            </a:r>
          </a:p>
        </p:txBody>
      </p:sp>
      <p:sp>
        <p:nvSpPr>
          <p:cNvPr id="25" name="Rectangle 24"/>
          <p:cNvSpPr/>
          <p:nvPr/>
        </p:nvSpPr>
        <p:spPr>
          <a:xfrm>
            <a:off x="6126480" y="3291840"/>
            <a:ext cx="265176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0" y="3291840"/>
            <a:ext cx="2651760" cy="777240"/>
          </a:xfrm>
          <a:prstGeom prst="rect">
            <a:avLst/>
          </a:prstGeom>
          <a:noFill/>
        </p:spPr>
        <p:txBody>
          <a:bodyPr wrap="square" anchor="ctr">
            <a:spAutoFit/>
          </a:bodyPr>
          <a:lstStyle/>
          <a:p>
            <a:pPr algn="ctr">
              <a:lnSpc>
                <a:spcPct val="115000"/>
              </a:lnSpc>
            </a:pPr>
            <a:r>
              <a:rPr sz="1400" b="0" i="0">
                <a:solidFill>
                  <a:srgbClr val="1A1A1A"/>
                </a:solidFill>
                <a:latin typeface="Calibri"/>
              </a:rPr>
              <a:t>11. Logout</a:t>
            </a:r>
          </a:p>
        </p:txBody>
      </p:sp>
      <p:sp>
        <p:nvSpPr>
          <p:cNvPr id="27" name="TextBox 26"/>
          <p:cNvSpPr txBox="1"/>
          <p:nvPr/>
        </p:nvSpPr>
        <p:spPr>
          <a:xfrm>
            <a:off x="548640" y="5120640"/>
            <a:ext cx="10789920" cy="914400"/>
          </a:xfrm>
          <a:prstGeom prst="rect">
            <a:avLst/>
          </a:prstGeom>
          <a:noFill/>
        </p:spPr>
        <p:txBody>
          <a:bodyPr wrap="square" anchor="t">
            <a:spAutoFit/>
          </a:bodyPr>
          <a:lstStyle/>
          <a:p>
            <a:pPr algn="l">
              <a:lnSpc>
                <a:spcPct val="115000"/>
              </a:lnSpc>
            </a:pPr>
            <a:r>
              <a:rPr sz="1600" b="0" i="1">
                <a:solidFill>
                  <a:srgbClr val="2E5A88"/>
                </a:solidFill>
                <a:latin typeface="Calibri"/>
              </a:rPr>
              <a:t>Les résultats présentés pendant la démonstration proviennent de l'application réellement déployée.</a:t>
            </a:r>
          </a:p>
        </p:txBody>
      </p:sp>
      <p:sp>
        <p:nvSpPr>
          <p:cNvPr id="28" name="TextBox 27"/>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29" name="TextBox 28"/>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601200" cy="640080"/>
          </a:xfrm>
          <a:prstGeom prst="rect">
            <a:avLst/>
          </a:prstGeom>
          <a:noFill/>
        </p:spPr>
        <p:txBody>
          <a:bodyPr wrap="square" anchor="ctr">
            <a:spAutoFit/>
          </a:bodyPr>
          <a:lstStyle/>
          <a:p>
            <a:pPr algn="l">
              <a:lnSpc>
                <a:spcPct val="115000"/>
              </a:lnSpc>
            </a:pPr>
            <a:r>
              <a:rPr sz="2800" b="1" i="0">
                <a:solidFill>
                  <a:srgbClr val="FFFFFF"/>
                </a:solidFill>
                <a:latin typeface="Calibri"/>
              </a:rPr>
              <a:t>Perspectives</a:t>
            </a:r>
          </a:p>
        </p:txBody>
      </p:sp>
      <p:sp>
        <p:nvSpPr>
          <p:cNvPr id="4" name="TextBox 3"/>
          <p:cNvSpPr txBox="1"/>
          <p:nvPr/>
        </p:nvSpPr>
        <p:spPr>
          <a:xfrm>
            <a:off x="11002975" y="320040"/>
            <a:ext cx="914400" cy="457200"/>
          </a:xfrm>
          <a:prstGeom prst="rect">
            <a:avLst/>
          </a:prstGeom>
          <a:noFill/>
        </p:spPr>
        <p:txBody>
          <a:bodyPr wrap="square" anchor="t">
            <a:spAutoFit/>
          </a:bodyPr>
          <a:lstStyle/>
          <a:p>
            <a:pPr algn="r">
              <a:lnSpc>
                <a:spcPct val="115000"/>
              </a:lnSpc>
            </a:pPr>
            <a:r>
              <a:rPr sz="1400" b="0" i="0">
                <a:solidFill>
                  <a:srgbClr val="FFFFFF"/>
                </a:solidFill>
                <a:latin typeface="Calibri"/>
              </a:rPr>
              <a:t>21</a:t>
            </a:r>
          </a:p>
        </p:txBody>
      </p:sp>
      <p:sp>
        <p:nvSpPr>
          <p:cNvPr id="5" name="TextBox 4"/>
          <p:cNvSpPr txBox="1"/>
          <p:nvPr/>
        </p:nvSpPr>
        <p:spPr>
          <a:xfrm>
            <a:off x="640080" y="1463040"/>
            <a:ext cx="10789920" cy="4572000"/>
          </a:xfrm>
          <a:prstGeom prst="rect">
            <a:avLst/>
          </a:prstGeom>
          <a:noFill/>
        </p:spPr>
        <p:txBody>
          <a:bodyPr wrap="square">
            <a:spAutoFit/>
          </a:bodyPr>
          <a:lstStyle/>
          <a:p>
            <a:pPr>
              <a:spcAft>
                <a:spcPts val="1400"/>
              </a:spcAft>
            </a:pPr>
            <a:r>
              <a:rPr sz="1800">
                <a:solidFill>
                  <a:srgbClr val="1A1A1A"/>
                </a:solidFill>
                <a:latin typeface="Calibri"/>
              </a:rPr>
              <a:t>•  Enrichissement du dataset avec de vraies photos supplémentaires</a:t>
            </a:r>
          </a:p>
          <a:p>
            <a:pPr>
              <a:spcAft>
                <a:spcPts val="1400"/>
              </a:spcAft>
            </a:pPr>
            <a:r>
              <a:rPr sz="1800">
                <a:solidFill>
                  <a:srgbClr val="1A1A1A"/>
                </a:solidFill>
                <a:latin typeface="Calibri"/>
              </a:rPr>
              <a:t>•  Amélioration ciblée de la détection sur broken_small</a:t>
            </a:r>
          </a:p>
          <a:p>
            <a:pPr>
              <a:spcAft>
                <a:spcPts val="1400"/>
              </a:spcAft>
            </a:pPr>
            <a:r>
              <a:rPr sz="1800">
                <a:solidFill>
                  <a:srgbClr val="1A1A1A"/>
                </a:solidFill>
                <a:latin typeface="Calibri"/>
              </a:rPr>
              <a:t>•  Tests de robustesse au domain shift (conditions réelles)</a:t>
            </a:r>
          </a:p>
          <a:p>
            <a:pPr>
              <a:spcAft>
                <a:spcPts val="1400"/>
              </a:spcAft>
            </a:pPr>
            <a:r>
              <a:rPr sz="1800">
                <a:solidFill>
                  <a:srgbClr val="1A1A1A"/>
                </a:solidFill>
                <a:latin typeface="Calibri"/>
              </a:rPr>
              <a:t>•  Mécanisme de détection out-of-distribution (rejet des images non pertinentes)</a:t>
            </a:r>
          </a:p>
          <a:p>
            <a:pPr>
              <a:spcAft>
                <a:spcPts val="1400"/>
              </a:spcAft>
            </a:pPr>
            <a:r>
              <a:rPr sz="1800">
                <a:solidFill>
                  <a:srgbClr val="1A1A1A"/>
                </a:solidFill>
                <a:latin typeface="Calibri"/>
              </a:rPr>
              <a:t>•  Stockage persistant des images en production (type S3)</a:t>
            </a:r>
          </a:p>
          <a:p>
            <a:pPr>
              <a:spcAft>
                <a:spcPts val="1400"/>
              </a:spcAft>
            </a:pPr>
            <a:r>
              <a:rPr sz="1800">
                <a:solidFill>
                  <a:srgbClr val="1A1A1A"/>
                </a:solidFill>
                <a:latin typeface="Calibri"/>
              </a:rPr>
              <a:t>•  Optimisation du modèle pour le déploiement (ex. TensorFlow Lite)</a:t>
            </a:r>
          </a:p>
          <a:p>
            <a:pPr>
              <a:spcAft>
                <a:spcPts val="1400"/>
              </a:spcAft>
            </a:pPr>
            <a:r>
              <a:rPr sz="1800">
                <a:solidFill>
                  <a:srgbClr val="1A1A1A"/>
                </a:solidFill>
                <a:latin typeface="Calibri"/>
              </a:rPr>
              <a:t>•  Mise en place de migrations Alembic versionnées</a:t>
            </a:r>
          </a:p>
        </p:txBody>
      </p:sp>
      <p:sp>
        <p:nvSpPr>
          <p:cNvPr id="6" name="TextBox 5"/>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555555"/>
                </a:solidFill>
                <a:latin typeface="Calibri"/>
              </a:rPr>
              <a:t>VisionInspectIA — Soutenance de stage</a:t>
            </a:r>
          </a:p>
        </p:txBody>
      </p:sp>
      <p:sp>
        <p:nvSpPr>
          <p:cNvPr id="7" name="TextBox 6"/>
          <p:cNvSpPr txBox="1"/>
          <p:nvPr/>
        </p:nvSpPr>
        <p:spPr>
          <a:xfrm>
            <a:off x="10820095" y="6492240"/>
            <a:ext cx="914400" cy="274320"/>
          </a:xfrm>
          <a:prstGeom prst="rect">
            <a:avLst/>
          </a:prstGeom>
          <a:noFill/>
        </p:spPr>
        <p:txBody>
          <a:bodyPr wrap="square" anchor="t">
            <a:spAutoFit/>
          </a:bodyPr>
          <a:lstStyle/>
          <a:p>
            <a:pPr algn="r">
              <a:lnSpc>
                <a:spcPct val="115000"/>
              </a:lnSpc>
            </a:pPr>
            <a:r>
              <a:rPr sz="900" b="0" i="0">
                <a:solidFill>
                  <a:srgbClr val="555555"/>
                </a:solidFill>
                <a:latin typeface="Calibr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5A88"/>
        </a:solidFill>
        <a:effectLst/>
      </p:bgPr>
    </p:bg>
    <p:spTree>
      <p:nvGrpSpPr>
        <p:cNvPr id="1" name=""/>
        <p:cNvGrpSpPr/>
        <p:nvPr/>
      </p:nvGrpSpPr>
      <p:grpSpPr/>
      <p:sp>
        <p:nvSpPr>
          <p:cNvPr id="2" name="TextBox 1"/>
          <p:cNvSpPr txBox="1"/>
          <p:nvPr/>
        </p:nvSpPr>
        <p:spPr>
          <a:xfrm>
            <a:off x="822960" y="502920"/>
            <a:ext cx="10515600" cy="640080"/>
          </a:xfrm>
          <a:prstGeom prst="rect">
            <a:avLst/>
          </a:prstGeom>
          <a:noFill/>
        </p:spPr>
        <p:txBody>
          <a:bodyPr wrap="square" anchor="t">
            <a:spAutoFit/>
          </a:bodyPr>
          <a:lstStyle/>
          <a:p>
            <a:pPr algn="l">
              <a:lnSpc>
                <a:spcPct val="115000"/>
              </a:lnSpc>
            </a:pPr>
            <a:r>
              <a:rPr sz="3600" b="1" i="0">
                <a:solidFill>
                  <a:srgbClr val="FFFFFF"/>
                </a:solidFill>
                <a:latin typeface="Calibri"/>
              </a:rPr>
              <a:t>Conclusion</a:t>
            </a:r>
          </a:p>
        </p:txBody>
      </p:sp>
      <p:sp>
        <p:nvSpPr>
          <p:cNvPr id="3" name="TextBox 2"/>
          <p:cNvSpPr txBox="1"/>
          <p:nvPr/>
        </p:nvSpPr>
        <p:spPr>
          <a:xfrm>
            <a:off x="914400" y="1188720"/>
            <a:ext cx="10058400" cy="457200"/>
          </a:xfrm>
          <a:prstGeom prst="rect">
            <a:avLst/>
          </a:prstGeom>
          <a:noFill/>
        </p:spPr>
        <p:txBody>
          <a:bodyPr wrap="square" anchor="t">
            <a:spAutoFit/>
          </a:bodyPr>
          <a:lstStyle/>
          <a:p>
            <a:pPr algn="l">
              <a:lnSpc>
                <a:spcPct val="115000"/>
              </a:lnSpc>
            </a:pPr>
            <a:r>
              <a:rPr sz="1600" b="0" i="1">
                <a:solidFill>
                  <a:srgbClr val="DCE6F0"/>
                </a:solidFill>
                <a:latin typeface="Calibri"/>
              </a:rPr>
              <a:t>VisionInspectIA permet de :</a:t>
            </a:r>
          </a:p>
        </p:txBody>
      </p:sp>
      <p:sp>
        <p:nvSpPr>
          <p:cNvPr id="4" name="TextBox 3"/>
          <p:cNvSpPr txBox="1"/>
          <p:nvPr/>
        </p:nvSpPr>
        <p:spPr>
          <a:xfrm>
            <a:off x="914400" y="1691640"/>
            <a:ext cx="10058400" cy="3108960"/>
          </a:xfrm>
          <a:prstGeom prst="rect">
            <a:avLst/>
          </a:prstGeom>
          <a:noFill/>
        </p:spPr>
        <p:txBody>
          <a:bodyPr wrap="square">
            <a:spAutoFit/>
          </a:bodyPr>
          <a:lstStyle/>
          <a:p>
            <a:pPr>
              <a:spcAft>
                <a:spcPts val="1000"/>
              </a:spcAft>
            </a:pPr>
            <a:r>
              <a:rPr sz="1700">
                <a:solidFill>
                  <a:srgbClr val="FFFFFF"/>
                </a:solidFill>
                <a:latin typeface="Calibri"/>
              </a:rPr>
              <a:t>•  Analyser une image et détecter un défaut (MobileNetV2)</a:t>
            </a:r>
          </a:p>
          <a:p>
            <a:pPr>
              <a:spcAft>
                <a:spcPts val="1000"/>
              </a:spcAft>
            </a:pPr>
            <a:r>
              <a:rPr sz="1700">
                <a:solidFill>
                  <a:srgbClr val="FFFFFF"/>
                </a:solidFill>
                <a:latin typeface="Calibri"/>
              </a:rPr>
              <a:t>•  Enregistrer l'inspection et consulter l'historique</a:t>
            </a:r>
          </a:p>
          <a:p>
            <a:pPr>
              <a:spcAft>
                <a:spcPts val="1000"/>
              </a:spcAft>
            </a:pPr>
            <a:r>
              <a:rPr sz="1700">
                <a:solidFill>
                  <a:srgbClr val="FFFFFF"/>
                </a:solidFill>
                <a:latin typeface="Calibri"/>
              </a:rPr>
              <a:t>•  Visualiser des statistiques (dashboard)</a:t>
            </a:r>
          </a:p>
          <a:p>
            <a:pPr>
              <a:spcAft>
                <a:spcPts val="1000"/>
              </a:spcAft>
            </a:pPr>
            <a:r>
              <a:rPr sz="1700">
                <a:solidFill>
                  <a:srgbClr val="FFFFFF"/>
                </a:solidFill>
                <a:latin typeface="Calibri"/>
              </a:rPr>
              <a:t>•  Générer des rapports (PDF/CSV)</a:t>
            </a:r>
          </a:p>
          <a:p>
            <a:pPr>
              <a:spcAft>
                <a:spcPts val="1000"/>
              </a:spcAft>
            </a:pPr>
            <a:r>
              <a:rPr sz="1700">
                <a:solidFill>
                  <a:srgbClr val="FFFFFF"/>
                </a:solidFill>
                <a:latin typeface="Calibri"/>
              </a:rPr>
              <a:t>•  Sécuriser les accès (JWT, isolation des données)</a:t>
            </a:r>
          </a:p>
          <a:p>
            <a:pPr>
              <a:spcAft>
                <a:spcPts val="1000"/>
              </a:spcAft>
            </a:pPr>
            <a:r>
              <a:rPr sz="1700">
                <a:solidFill>
                  <a:srgbClr val="FFFFFF"/>
                </a:solidFill>
                <a:latin typeface="Calibri"/>
              </a:rPr>
              <a:t>•  Utiliser une plateforme réellement déployée en production</a:t>
            </a:r>
          </a:p>
        </p:txBody>
      </p:sp>
      <p:sp>
        <p:nvSpPr>
          <p:cNvPr id="5" name="TextBox 4"/>
          <p:cNvSpPr txBox="1"/>
          <p:nvPr/>
        </p:nvSpPr>
        <p:spPr>
          <a:xfrm>
            <a:off x="822960" y="5486400"/>
            <a:ext cx="10515600" cy="1005840"/>
          </a:xfrm>
          <a:prstGeom prst="rect">
            <a:avLst/>
          </a:prstGeom>
          <a:noFill/>
        </p:spPr>
        <p:txBody>
          <a:bodyPr wrap="square" anchor="t">
            <a:spAutoFit/>
          </a:bodyPr>
          <a:lstStyle/>
          <a:p>
            <a:pPr algn="ctr">
              <a:lnSpc>
                <a:spcPct val="120000"/>
              </a:lnSpc>
            </a:pPr>
            <a:r>
              <a:rPr sz="2600" b="1" i="0">
                <a:solidFill>
                  <a:srgbClr val="FFFFFF"/>
                </a:solidFill>
                <a:latin typeface="Calibri"/>
              </a:rPr>
              <a:t>Merci pour votre attention.</a:t>
            </a:r>
          </a:p>
          <a:p>
            <a:pPr algn="ctr">
              <a:lnSpc>
                <a:spcPct val="120000"/>
              </a:lnSpc>
            </a:pPr>
            <a:r>
              <a:rPr sz="2600" b="1" i="0">
                <a:solidFill>
                  <a:srgbClr val="FFFFFF"/>
                </a:solidFill>
                <a:latin typeface="Calibri"/>
              </a:rPr>
              <a:t>Questions ?</a:t>
            </a:r>
          </a:p>
        </p:txBody>
      </p:sp>
      <p:sp>
        <p:nvSpPr>
          <p:cNvPr id="6" name="TextBox 5"/>
          <p:cNvSpPr txBox="1"/>
          <p:nvPr/>
        </p:nvSpPr>
        <p:spPr>
          <a:xfrm>
            <a:off x="457200" y="6492240"/>
            <a:ext cx="5486400" cy="274320"/>
          </a:xfrm>
          <a:prstGeom prst="rect">
            <a:avLst/>
          </a:prstGeom>
          <a:noFill/>
        </p:spPr>
        <p:txBody>
          <a:bodyPr wrap="square" anchor="t">
            <a:spAutoFit/>
          </a:bodyPr>
          <a:lstStyle/>
          <a:p>
            <a:pPr algn="l">
              <a:lnSpc>
                <a:spcPct val="115000"/>
              </a:lnSpc>
            </a:pPr>
            <a:r>
              <a:rPr sz="900" b="0" i="0">
                <a:solidFill>
                  <a:srgbClr val="DCE6F0"/>
                </a:solidFill>
                <a:latin typeface="Calibri"/>
              </a:rPr>
              <a:t>VisionInspectIA — Soutenance de stage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